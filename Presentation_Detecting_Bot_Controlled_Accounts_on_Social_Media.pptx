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93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45A1FD-1A60-40E3-A50D-8970CCAC69E5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BBD76-AC13-4D6A-B3A7-D565A5E3F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62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E4DFD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E4DFD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242121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191" y="7749538"/>
            <a:ext cx="1722627" cy="41147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5195" y="1289761"/>
            <a:ext cx="1298000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5195" y="2738119"/>
            <a:ext cx="7399655" cy="42954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E4DFD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5195" y="1112977"/>
            <a:ext cx="5655945" cy="1395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500"/>
              </a:lnSpc>
            </a:pPr>
            <a:r>
              <a:rPr spc="-40" dirty="0"/>
              <a:t>Detecting</a:t>
            </a:r>
            <a:r>
              <a:rPr spc="-130" dirty="0"/>
              <a:t> </a:t>
            </a:r>
            <a:r>
              <a:rPr spc="-50" dirty="0"/>
              <a:t>Bot-</a:t>
            </a:r>
            <a:r>
              <a:rPr spc="-10" dirty="0"/>
              <a:t>Controlled </a:t>
            </a:r>
            <a:r>
              <a:rPr spc="-40" dirty="0"/>
              <a:t>Accounts</a:t>
            </a:r>
            <a:r>
              <a:rPr spc="-185" dirty="0"/>
              <a:t> </a:t>
            </a:r>
            <a:r>
              <a:rPr dirty="0"/>
              <a:t>on</a:t>
            </a:r>
            <a:r>
              <a:rPr spc="-180" dirty="0"/>
              <a:t> </a:t>
            </a:r>
            <a:r>
              <a:rPr spc="-20" dirty="0"/>
              <a:t>Social</a:t>
            </a:r>
            <a:r>
              <a:rPr spc="-170" dirty="0"/>
              <a:t> </a:t>
            </a:r>
            <a:r>
              <a:rPr spc="-10" dirty="0"/>
              <a:t>Media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1943" rIns="0" bIns="0" rtlCol="0">
            <a:spAutoFit/>
          </a:bodyPr>
          <a:lstStyle/>
          <a:p>
            <a:pPr marL="12700" marR="5080">
              <a:lnSpc>
                <a:spcPct val="135200"/>
              </a:lnSpc>
              <a:spcBef>
                <a:spcPts val="100"/>
              </a:spcBef>
            </a:pPr>
            <a:r>
              <a:rPr sz="1850" dirty="0"/>
              <a:t>This</a:t>
            </a:r>
            <a:r>
              <a:rPr sz="1850" spc="-55" dirty="0"/>
              <a:t> </a:t>
            </a:r>
            <a:r>
              <a:rPr sz="1850" dirty="0"/>
              <a:t>project</a:t>
            </a:r>
            <a:r>
              <a:rPr sz="1850" spc="-50" dirty="0"/>
              <a:t> </a:t>
            </a:r>
            <a:r>
              <a:rPr sz="1850" spc="-10" dirty="0"/>
              <a:t>explores</a:t>
            </a:r>
            <a:r>
              <a:rPr sz="1850" spc="-50" dirty="0"/>
              <a:t> </a:t>
            </a:r>
            <a:r>
              <a:rPr sz="1850" dirty="0"/>
              <a:t>machine</a:t>
            </a:r>
            <a:r>
              <a:rPr sz="1850" spc="-50" dirty="0"/>
              <a:t> </a:t>
            </a:r>
            <a:r>
              <a:rPr sz="1850" dirty="0"/>
              <a:t>learning</a:t>
            </a:r>
            <a:r>
              <a:rPr sz="1850" spc="-45" dirty="0"/>
              <a:t> </a:t>
            </a:r>
            <a:r>
              <a:rPr sz="1850" dirty="0"/>
              <a:t>techniques</a:t>
            </a:r>
            <a:r>
              <a:rPr sz="1850" spc="-55" dirty="0"/>
              <a:t> </a:t>
            </a:r>
            <a:r>
              <a:rPr sz="1850" dirty="0"/>
              <a:t>to</a:t>
            </a:r>
            <a:r>
              <a:rPr sz="1850" spc="-75" dirty="0"/>
              <a:t> </a:t>
            </a:r>
            <a:r>
              <a:rPr sz="1850" dirty="0"/>
              <a:t>detect</a:t>
            </a:r>
            <a:r>
              <a:rPr sz="1850" spc="-55" dirty="0"/>
              <a:t> </a:t>
            </a:r>
            <a:r>
              <a:rPr sz="1850" dirty="0"/>
              <a:t>bots</a:t>
            </a:r>
            <a:r>
              <a:rPr sz="1850" spc="-60" dirty="0"/>
              <a:t> </a:t>
            </a:r>
            <a:r>
              <a:rPr sz="1850" dirty="0"/>
              <a:t>on</a:t>
            </a:r>
            <a:r>
              <a:rPr sz="1850" spc="-60" dirty="0"/>
              <a:t> </a:t>
            </a:r>
            <a:r>
              <a:rPr sz="1850" spc="-10" dirty="0"/>
              <a:t>Instagram </a:t>
            </a:r>
            <a:r>
              <a:rPr sz="1850" dirty="0"/>
              <a:t>and</a:t>
            </a:r>
            <a:r>
              <a:rPr sz="1850" spc="-55" dirty="0"/>
              <a:t> </a:t>
            </a:r>
            <a:r>
              <a:rPr sz="1850" spc="-40" dirty="0"/>
              <a:t>Twitter.</a:t>
            </a:r>
            <a:r>
              <a:rPr sz="1850" spc="-60" dirty="0"/>
              <a:t> </a:t>
            </a:r>
            <a:r>
              <a:rPr sz="1850" dirty="0"/>
              <a:t>The</a:t>
            </a:r>
            <a:r>
              <a:rPr sz="1850" spc="-65" dirty="0"/>
              <a:t> </a:t>
            </a:r>
            <a:r>
              <a:rPr sz="1850" dirty="0"/>
              <a:t>growing</a:t>
            </a:r>
            <a:r>
              <a:rPr sz="1850" spc="-65" dirty="0"/>
              <a:t> </a:t>
            </a:r>
            <a:r>
              <a:rPr sz="1850" dirty="0"/>
              <a:t>bot</a:t>
            </a:r>
            <a:r>
              <a:rPr sz="1850" spc="-60" dirty="0"/>
              <a:t> </a:t>
            </a:r>
            <a:r>
              <a:rPr sz="1850" dirty="0"/>
              <a:t>threat</a:t>
            </a:r>
            <a:r>
              <a:rPr sz="1850" spc="-65" dirty="0"/>
              <a:t> </a:t>
            </a:r>
            <a:r>
              <a:rPr sz="1850" dirty="0"/>
              <a:t>manipulates</a:t>
            </a:r>
            <a:r>
              <a:rPr sz="1850" spc="-45" dirty="0"/>
              <a:t> </a:t>
            </a:r>
            <a:r>
              <a:rPr sz="1850" dirty="0"/>
              <a:t>opinions,</a:t>
            </a:r>
            <a:r>
              <a:rPr sz="1850" spc="-60" dirty="0"/>
              <a:t> </a:t>
            </a:r>
            <a:r>
              <a:rPr sz="1850" dirty="0"/>
              <a:t>spreads</a:t>
            </a:r>
            <a:r>
              <a:rPr sz="1850" spc="-70" dirty="0"/>
              <a:t> </a:t>
            </a:r>
            <a:r>
              <a:rPr sz="1850" spc="-10" dirty="0"/>
              <a:t>fake</a:t>
            </a:r>
            <a:r>
              <a:rPr sz="1850" spc="-70" dirty="0"/>
              <a:t> </a:t>
            </a:r>
            <a:r>
              <a:rPr sz="1850" spc="-10" dirty="0"/>
              <a:t>news, </a:t>
            </a:r>
            <a:r>
              <a:rPr sz="1850" dirty="0"/>
              <a:t>and</a:t>
            </a:r>
            <a:r>
              <a:rPr sz="1850" spc="-40" dirty="0"/>
              <a:t> </a:t>
            </a:r>
            <a:r>
              <a:rPr sz="1850" dirty="0"/>
              <a:t>commits</a:t>
            </a:r>
            <a:r>
              <a:rPr sz="1850" spc="-65" dirty="0"/>
              <a:t> </a:t>
            </a:r>
            <a:r>
              <a:rPr sz="1850" dirty="0"/>
              <a:t>fraud.</a:t>
            </a:r>
            <a:r>
              <a:rPr sz="1850" spc="-45" dirty="0"/>
              <a:t> </a:t>
            </a:r>
            <a:r>
              <a:rPr sz="1850" spc="-20" dirty="0"/>
              <a:t>Traditional</a:t>
            </a:r>
            <a:r>
              <a:rPr sz="1850" spc="5" dirty="0"/>
              <a:t> </a:t>
            </a:r>
            <a:r>
              <a:rPr sz="1850" dirty="0"/>
              <a:t>methods</a:t>
            </a:r>
            <a:r>
              <a:rPr sz="1850" spc="-55" dirty="0"/>
              <a:t> </a:t>
            </a:r>
            <a:r>
              <a:rPr sz="1850" dirty="0"/>
              <a:t>struggle,</a:t>
            </a:r>
            <a:r>
              <a:rPr sz="1850" spc="-45" dirty="0"/>
              <a:t> </a:t>
            </a:r>
            <a:r>
              <a:rPr sz="1850" dirty="0"/>
              <a:t>so</a:t>
            </a:r>
            <a:r>
              <a:rPr sz="1850" spc="-60" dirty="0"/>
              <a:t> </a:t>
            </a:r>
            <a:r>
              <a:rPr sz="1850" spc="-10" dirty="0"/>
              <a:t>adaptive</a:t>
            </a:r>
            <a:r>
              <a:rPr sz="1850" spc="-45" dirty="0"/>
              <a:t> </a:t>
            </a:r>
            <a:r>
              <a:rPr sz="1850" dirty="0"/>
              <a:t>models</a:t>
            </a:r>
            <a:r>
              <a:rPr sz="1850" spc="-50" dirty="0"/>
              <a:t> </a:t>
            </a:r>
            <a:r>
              <a:rPr sz="1850" spc="-10" dirty="0"/>
              <a:t>using behavioral</a:t>
            </a:r>
            <a:r>
              <a:rPr sz="1850" spc="-20" dirty="0"/>
              <a:t> </a:t>
            </a:r>
            <a:r>
              <a:rPr sz="1850" dirty="0"/>
              <a:t>and</a:t>
            </a:r>
            <a:r>
              <a:rPr sz="1850" spc="-45" dirty="0"/>
              <a:t> </a:t>
            </a:r>
            <a:r>
              <a:rPr sz="1850" spc="-10" dirty="0"/>
              <a:t>content</a:t>
            </a:r>
            <a:r>
              <a:rPr sz="1850" spc="-75" dirty="0"/>
              <a:t> </a:t>
            </a:r>
            <a:r>
              <a:rPr sz="1850" spc="-10" dirty="0"/>
              <a:t>features</a:t>
            </a:r>
            <a:r>
              <a:rPr sz="1850" spc="-60" dirty="0"/>
              <a:t> </a:t>
            </a:r>
            <a:r>
              <a:rPr sz="1850" dirty="0"/>
              <a:t>are</a:t>
            </a:r>
            <a:r>
              <a:rPr sz="1850" spc="-55" dirty="0"/>
              <a:t> </a:t>
            </a:r>
            <a:r>
              <a:rPr sz="1850" spc="-10" dirty="0"/>
              <a:t>needed.</a:t>
            </a:r>
            <a:endParaRPr sz="1850" dirty="0"/>
          </a:p>
          <a:p>
            <a:pPr marL="12700" marR="5828030">
              <a:lnSpc>
                <a:spcPct val="231500"/>
              </a:lnSpc>
              <a:spcBef>
                <a:spcPts val="45"/>
              </a:spcBef>
            </a:pPr>
            <a:r>
              <a:rPr sz="1850" dirty="0"/>
              <a:t>Himanshu</a:t>
            </a:r>
            <a:r>
              <a:rPr sz="1850" spc="-70" dirty="0"/>
              <a:t> </a:t>
            </a:r>
            <a:r>
              <a:rPr sz="1850" spc="-20" dirty="0"/>
              <a:t>Sawle </a:t>
            </a:r>
            <a:r>
              <a:rPr sz="1850" spc="-10" dirty="0"/>
              <a:t>P24IS006</a:t>
            </a:r>
            <a:endParaRPr sz="1850" dirty="0"/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850" dirty="0"/>
          </a:p>
          <a:p>
            <a:pPr marL="12700">
              <a:lnSpc>
                <a:spcPct val="100000"/>
              </a:lnSpc>
            </a:pPr>
            <a:r>
              <a:rPr sz="1850" dirty="0"/>
              <a:t>SVNIT</a:t>
            </a:r>
            <a:r>
              <a:rPr sz="1850" spc="-60" dirty="0"/>
              <a:t> </a:t>
            </a:r>
            <a:r>
              <a:rPr sz="1850" spc="-20" dirty="0"/>
              <a:t>Surat</a:t>
            </a:r>
            <a:endParaRPr sz="1850" dirty="0"/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850" dirty="0"/>
          </a:p>
          <a:p>
            <a:pPr marL="12700">
              <a:lnSpc>
                <a:spcPct val="100000"/>
              </a:lnSpc>
            </a:pPr>
            <a:r>
              <a:rPr sz="1850" dirty="0"/>
              <a:t>Guide:</a:t>
            </a:r>
            <a:r>
              <a:rPr sz="1850" spc="-45" dirty="0"/>
              <a:t> </a:t>
            </a:r>
            <a:r>
              <a:rPr sz="1850" spc="-65" dirty="0"/>
              <a:t>Dr.</a:t>
            </a:r>
            <a:r>
              <a:rPr sz="1850" spc="-35" dirty="0"/>
              <a:t> </a:t>
            </a:r>
            <a:r>
              <a:rPr sz="1850" spc="-10" dirty="0"/>
              <a:t>Mukesh</a:t>
            </a:r>
            <a:r>
              <a:rPr sz="1850" spc="-50" dirty="0"/>
              <a:t> </a:t>
            </a:r>
            <a:r>
              <a:rPr sz="1850" spc="-10" dirty="0"/>
              <a:t>Zaveri</a:t>
            </a:r>
            <a:endParaRPr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9921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25195" y="3993007"/>
            <a:ext cx="56597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5" dirty="0">
                <a:solidFill>
                  <a:srgbClr val="FFFFFF"/>
                </a:solidFill>
                <a:latin typeface="Calibri Light"/>
                <a:cs typeface="Calibri Light"/>
              </a:rPr>
              <a:t>Background</a:t>
            </a:r>
            <a:r>
              <a:rPr sz="4400" spc="-1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&amp;</a:t>
            </a:r>
            <a:r>
              <a:rPr sz="4400" spc="-11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spc="-35" dirty="0">
                <a:solidFill>
                  <a:srgbClr val="FFFFFF"/>
                </a:solidFill>
                <a:latin typeface="Calibri Light"/>
                <a:cs typeface="Calibri Light"/>
              </a:rPr>
              <a:t>Motivation</a:t>
            </a:r>
            <a:endParaRPr sz="4400">
              <a:latin typeface="Calibri Light"/>
              <a:cs typeface="Calibri Ligh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3920" y="5099050"/>
            <a:ext cx="546735" cy="546735"/>
            <a:chOff x="833920" y="5099050"/>
            <a:chExt cx="546735" cy="546735"/>
          </a:xfrm>
        </p:grpSpPr>
        <p:sp>
          <p:nvSpPr>
            <p:cNvPr id="5" name="object 5"/>
            <p:cNvSpPr/>
            <p:nvPr/>
          </p:nvSpPr>
          <p:spPr>
            <a:xfrm>
              <a:off x="837730" y="5102860"/>
              <a:ext cx="539115" cy="539115"/>
            </a:xfrm>
            <a:custGeom>
              <a:avLst/>
              <a:gdLst/>
              <a:ahLst/>
              <a:cxnLst/>
              <a:rect l="l" t="t" r="r" b="b"/>
              <a:pathLst>
                <a:path w="539115" h="539114">
                  <a:moveTo>
                    <a:pt x="437984" y="0"/>
                  </a:moveTo>
                  <a:lnTo>
                    <a:pt x="100533" y="0"/>
                  </a:lnTo>
                  <a:lnTo>
                    <a:pt x="61400" y="7911"/>
                  </a:lnTo>
                  <a:lnTo>
                    <a:pt x="29444" y="29479"/>
                  </a:lnTo>
                  <a:lnTo>
                    <a:pt x="7900" y="61454"/>
                  </a:lnTo>
                  <a:lnTo>
                    <a:pt x="0" y="100583"/>
                  </a:lnTo>
                  <a:lnTo>
                    <a:pt x="0" y="438022"/>
                  </a:lnTo>
                  <a:lnTo>
                    <a:pt x="7900" y="477152"/>
                  </a:lnTo>
                  <a:lnTo>
                    <a:pt x="29444" y="509127"/>
                  </a:lnTo>
                  <a:lnTo>
                    <a:pt x="61400" y="530695"/>
                  </a:lnTo>
                  <a:lnTo>
                    <a:pt x="100533" y="538607"/>
                  </a:lnTo>
                  <a:lnTo>
                    <a:pt x="437984" y="538607"/>
                  </a:lnTo>
                  <a:lnTo>
                    <a:pt x="477114" y="530695"/>
                  </a:lnTo>
                  <a:lnTo>
                    <a:pt x="509089" y="509127"/>
                  </a:lnTo>
                  <a:lnTo>
                    <a:pt x="530657" y="477152"/>
                  </a:lnTo>
                  <a:lnTo>
                    <a:pt x="538568" y="438022"/>
                  </a:lnTo>
                  <a:lnTo>
                    <a:pt x="538568" y="100583"/>
                  </a:lnTo>
                  <a:lnTo>
                    <a:pt x="530657" y="61454"/>
                  </a:lnTo>
                  <a:lnTo>
                    <a:pt x="509089" y="29479"/>
                  </a:lnTo>
                  <a:lnTo>
                    <a:pt x="477114" y="7911"/>
                  </a:lnTo>
                  <a:lnTo>
                    <a:pt x="437984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7730" y="5102860"/>
              <a:ext cx="539115" cy="539115"/>
            </a:xfrm>
            <a:custGeom>
              <a:avLst/>
              <a:gdLst/>
              <a:ahLst/>
              <a:cxnLst/>
              <a:rect l="l" t="t" r="r" b="b"/>
              <a:pathLst>
                <a:path w="539115" h="539114">
                  <a:moveTo>
                    <a:pt x="0" y="100583"/>
                  </a:moveTo>
                  <a:lnTo>
                    <a:pt x="7900" y="61454"/>
                  </a:lnTo>
                  <a:lnTo>
                    <a:pt x="29444" y="29479"/>
                  </a:lnTo>
                  <a:lnTo>
                    <a:pt x="61400" y="7911"/>
                  </a:lnTo>
                  <a:lnTo>
                    <a:pt x="100533" y="0"/>
                  </a:lnTo>
                  <a:lnTo>
                    <a:pt x="437984" y="0"/>
                  </a:lnTo>
                  <a:lnTo>
                    <a:pt x="477114" y="7911"/>
                  </a:lnTo>
                  <a:lnTo>
                    <a:pt x="509089" y="29479"/>
                  </a:lnTo>
                  <a:lnTo>
                    <a:pt x="530657" y="61454"/>
                  </a:lnTo>
                  <a:lnTo>
                    <a:pt x="538568" y="100583"/>
                  </a:lnTo>
                  <a:lnTo>
                    <a:pt x="538568" y="438022"/>
                  </a:lnTo>
                  <a:lnTo>
                    <a:pt x="530657" y="477152"/>
                  </a:lnTo>
                  <a:lnTo>
                    <a:pt x="509089" y="509127"/>
                  </a:lnTo>
                  <a:lnTo>
                    <a:pt x="477114" y="530695"/>
                  </a:lnTo>
                  <a:lnTo>
                    <a:pt x="437984" y="538607"/>
                  </a:lnTo>
                  <a:lnTo>
                    <a:pt x="100533" y="538607"/>
                  </a:lnTo>
                  <a:lnTo>
                    <a:pt x="61400" y="530695"/>
                  </a:lnTo>
                  <a:lnTo>
                    <a:pt x="29444" y="509127"/>
                  </a:lnTo>
                  <a:lnTo>
                    <a:pt x="7900" y="477152"/>
                  </a:lnTo>
                  <a:lnTo>
                    <a:pt x="0" y="438022"/>
                  </a:lnTo>
                  <a:lnTo>
                    <a:pt x="0" y="100583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02994" y="5161279"/>
            <a:ext cx="33140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30" dirty="0">
                <a:solidFill>
                  <a:srgbClr val="E4DFDF"/>
                </a:solidFill>
                <a:latin typeface="Calibri Light"/>
                <a:cs typeface="Calibri Light"/>
              </a:rPr>
              <a:t>Vulnerabilities</a:t>
            </a:r>
            <a:r>
              <a:rPr sz="220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E4DFDF"/>
                </a:solidFill>
                <a:latin typeface="Calibri Light"/>
                <a:cs typeface="Calibri Light"/>
              </a:rPr>
              <a:t>in</a:t>
            </a:r>
            <a:r>
              <a:rPr sz="2200" spc="-20" dirty="0">
                <a:solidFill>
                  <a:srgbClr val="E4DFDF"/>
                </a:solidFill>
                <a:latin typeface="Calibri Light"/>
                <a:cs typeface="Calibri Light"/>
              </a:rPr>
              <a:t> Social</a:t>
            </a:r>
            <a:r>
              <a:rPr sz="2200" spc="-3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200" spc="-10" dirty="0">
                <a:solidFill>
                  <a:srgbClr val="E4DFDF"/>
                </a:solidFill>
                <a:latin typeface="Calibri Light"/>
                <a:cs typeface="Calibri Light"/>
              </a:rPr>
              <a:t>Media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2994" y="5973521"/>
            <a:ext cx="332549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100"/>
              </a:spcBef>
            </a:pP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Bots</a:t>
            </a:r>
            <a:r>
              <a:rPr sz="185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infiltrate</a:t>
            </a:r>
            <a:r>
              <a:rPr sz="185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platforms,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mimicking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humans</a:t>
            </a:r>
            <a:r>
              <a:rPr sz="185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for</a:t>
            </a:r>
            <a:r>
              <a:rPr sz="185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manipulation.</a:t>
            </a:r>
            <a:endParaRPr sz="1850">
              <a:latin typeface="Calibri Light"/>
              <a:cs typeface="Calibri Ligh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51958" y="5099050"/>
            <a:ext cx="546100" cy="546735"/>
            <a:chOff x="5251958" y="5099050"/>
            <a:chExt cx="546100" cy="546735"/>
          </a:xfrm>
        </p:grpSpPr>
        <p:sp>
          <p:nvSpPr>
            <p:cNvPr id="10" name="object 10"/>
            <p:cNvSpPr/>
            <p:nvPr/>
          </p:nvSpPr>
          <p:spPr>
            <a:xfrm>
              <a:off x="5255768" y="5102860"/>
              <a:ext cx="538480" cy="539115"/>
            </a:xfrm>
            <a:custGeom>
              <a:avLst/>
              <a:gdLst/>
              <a:ahLst/>
              <a:cxnLst/>
              <a:rect l="l" t="t" r="r" b="b"/>
              <a:pathLst>
                <a:path w="538479" h="539114">
                  <a:moveTo>
                    <a:pt x="438023" y="0"/>
                  </a:moveTo>
                  <a:lnTo>
                    <a:pt x="100584" y="0"/>
                  </a:lnTo>
                  <a:lnTo>
                    <a:pt x="61454" y="7911"/>
                  </a:lnTo>
                  <a:lnTo>
                    <a:pt x="29479" y="29479"/>
                  </a:lnTo>
                  <a:lnTo>
                    <a:pt x="7911" y="61454"/>
                  </a:lnTo>
                  <a:lnTo>
                    <a:pt x="0" y="100583"/>
                  </a:lnTo>
                  <a:lnTo>
                    <a:pt x="0" y="438022"/>
                  </a:lnTo>
                  <a:lnTo>
                    <a:pt x="7911" y="477152"/>
                  </a:lnTo>
                  <a:lnTo>
                    <a:pt x="29479" y="509127"/>
                  </a:lnTo>
                  <a:lnTo>
                    <a:pt x="61454" y="530695"/>
                  </a:lnTo>
                  <a:lnTo>
                    <a:pt x="100584" y="538607"/>
                  </a:lnTo>
                  <a:lnTo>
                    <a:pt x="438023" y="538607"/>
                  </a:lnTo>
                  <a:lnTo>
                    <a:pt x="477133" y="530695"/>
                  </a:lnTo>
                  <a:lnTo>
                    <a:pt x="509063" y="509127"/>
                  </a:lnTo>
                  <a:lnTo>
                    <a:pt x="530588" y="477152"/>
                  </a:lnTo>
                  <a:lnTo>
                    <a:pt x="538480" y="438022"/>
                  </a:lnTo>
                  <a:lnTo>
                    <a:pt x="538480" y="100583"/>
                  </a:lnTo>
                  <a:lnTo>
                    <a:pt x="530588" y="61454"/>
                  </a:lnTo>
                  <a:lnTo>
                    <a:pt x="509063" y="29479"/>
                  </a:lnTo>
                  <a:lnTo>
                    <a:pt x="477133" y="7911"/>
                  </a:lnTo>
                  <a:lnTo>
                    <a:pt x="438023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55768" y="5102860"/>
              <a:ext cx="538480" cy="539115"/>
            </a:xfrm>
            <a:custGeom>
              <a:avLst/>
              <a:gdLst/>
              <a:ahLst/>
              <a:cxnLst/>
              <a:rect l="l" t="t" r="r" b="b"/>
              <a:pathLst>
                <a:path w="538479" h="539114">
                  <a:moveTo>
                    <a:pt x="0" y="100583"/>
                  </a:moveTo>
                  <a:lnTo>
                    <a:pt x="7911" y="61454"/>
                  </a:lnTo>
                  <a:lnTo>
                    <a:pt x="29479" y="29479"/>
                  </a:lnTo>
                  <a:lnTo>
                    <a:pt x="61454" y="7911"/>
                  </a:lnTo>
                  <a:lnTo>
                    <a:pt x="100584" y="0"/>
                  </a:lnTo>
                  <a:lnTo>
                    <a:pt x="438023" y="0"/>
                  </a:lnTo>
                  <a:lnTo>
                    <a:pt x="477133" y="7911"/>
                  </a:lnTo>
                  <a:lnTo>
                    <a:pt x="509063" y="29479"/>
                  </a:lnTo>
                  <a:lnTo>
                    <a:pt x="530588" y="61454"/>
                  </a:lnTo>
                  <a:lnTo>
                    <a:pt x="538480" y="100583"/>
                  </a:lnTo>
                  <a:lnTo>
                    <a:pt x="538480" y="438022"/>
                  </a:lnTo>
                  <a:lnTo>
                    <a:pt x="530588" y="477152"/>
                  </a:lnTo>
                  <a:lnTo>
                    <a:pt x="509063" y="509127"/>
                  </a:lnTo>
                  <a:lnTo>
                    <a:pt x="477133" y="530695"/>
                  </a:lnTo>
                  <a:lnTo>
                    <a:pt x="438023" y="538607"/>
                  </a:lnTo>
                  <a:lnTo>
                    <a:pt x="100584" y="538607"/>
                  </a:lnTo>
                  <a:lnTo>
                    <a:pt x="61454" y="530695"/>
                  </a:lnTo>
                  <a:lnTo>
                    <a:pt x="29479" y="509127"/>
                  </a:lnTo>
                  <a:lnTo>
                    <a:pt x="7911" y="477152"/>
                  </a:lnTo>
                  <a:lnTo>
                    <a:pt x="0" y="438022"/>
                  </a:lnTo>
                  <a:lnTo>
                    <a:pt x="0" y="100583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021451" y="5141185"/>
            <a:ext cx="2816860" cy="73533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2200" spc="-25" dirty="0">
                <a:solidFill>
                  <a:srgbClr val="E4DFDF"/>
                </a:solidFill>
                <a:latin typeface="Calibri Light"/>
                <a:cs typeface="Calibri Light"/>
              </a:rPr>
              <a:t>Limitations</a:t>
            </a:r>
            <a:r>
              <a:rPr sz="220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E4DFDF"/>
                </a:solidFill>
                <a:latin typeface="Calibri Light"/>
                <a:cs typeface="Calibri Light"/>
              </a:rPr>
              <a:t>of</a:t>
            </a:r>
            <a:r>
              <a:rPr sz="2200" spc="-1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200" spc="-30" dirty="0">
                <a:solidFill>
                  <a:srgbClr val="E4DFDF"/>
                </a:solidFill>
                <a:latin typeface="Calibri Light"/>
                <a:cs typeface="Calibri Light"/>
              </a:rPr>
              <a:t>Rule-</a:t>
            </a:r>
            <a:r>
              <a:rPr sz="2200" spc="-20" dirty="0">
                <a:solidFill>
                  <a:srgbClr val="E4DFDF"/>
                </a:solidFill>
                <a:latin typeface="Calibri Light"/>
                <a:cs typeface="Calibri Light"/>
              </a:rPr>
              <a:t>Based</a:t>
            </a:r>
            <a:endParaRPr sz="2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2200" spc="-10" dirty="0">
                <a:solidFill>
                  <a:srgbClr val="E4DFDF"/>
                </a:solidFill>
                <a:latin typeface="Calibri Light"/>
                <a:cs typeface="Calibri Light"/>
              </a:rPr>
              <a:t>Systems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21451" y="5973521"/>
            <a:ext cx="334899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100"/>
              </a:spcBef>
            </a:pPr>
            <a:r>
              <a:rPr sz="1850" spc="-20" dirty="0">
                <a:solidFill>
                  <a:srgbClr val="E4DFDF"/>
                </a:solidFill>
                <a:latin typeface="Calibri Light"/>
                <a:cs typeface="Calibri Light"/>
              </a:rPr>
              <a:t>Traditional</a:t>
            </a:r>
            <a:r>
              <a:rPr sz="1850" spc="1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detection</a:t>
            </a:r>
            <a:r>
              <a:rPr sz="185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struggles</a:t>
            </a:r>
            <a:r>
              <a:rPr sz="185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20" dirty="0">
                <a:solidFill>
                  <a:srgbClr val="E4DFDF"/>
                </a:solidFill>
                <a:latin typeface="Calibri Light"/>
                <a:cs typeface="Calibri Light"/>
              </a:rPr>
              <a:t>with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evolving</a:t>
            </a:r>
            <a:r>
              <a:rPr sz="185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bot</a:t>
            </a:r>
            <a:r>
              <a:rPr sz="185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behaviors.</a:t>
            </a:r>
            <a:endParaRPr sz="1850">
              <a:latin typeface="Calibri Light"/>
              <a:cs typeface="Calibri Ligh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670033" y="5099050"/>
            <a:ext cx="546100" cy="546735"/>
            <a:chOff x="9670033" y="5099050"/>
            <a:chExt cx="546100" cy="546735"/>
          </a:xfrm>
        </p:grpSpPr>
        <p:sp>
          <p:nvSpPr>
            <p:cNvPr id="15" name="object 15"/>
            <p:cNvSpPr/>
            <p:nvPr/>
          </p:nvSpPr>
          <p:spPr>
            <a:xfrm>
              <a:off x="9673843" y="5102860"/>
              <a:ext cx="538480" cy="539115"/>
            </a:xfrm>
            <a:custGeom>
              <a:avLst/>
              <a:gdLst/>
              <a:ahLst/>
              <a:cxnLst/>
              <a:rect l="l" t="t" r="r" b="b"/>
              <a:pathLst>
                <a:path w="538479" h="539114">
                  <a:moveTo>
                    <a:pt x="438023" y="0"/>
                  </a:moveTo>
                  <a:lnTo>
                    <a:pt x="100583" y="0"/>
                  </a:lnTo>
                  <a:lnTo>
                    <a:pt x="61400" y="7911"/>
                  </a:lnTo>
                  <a:lnTo>
                    <a:pt x="29432" y="29479"/>
                  </a:lnTo>
                  <a:lnTo>
                    <a:pt x="7893" y="61454"/>
                  </a:lnTo>
                  <a:lnTo>
                    <a:pt x="0" y="100583"/>
                  </a:lnTo>
                  <a:lnTo>
                    <a:pt x="0" y="438022"/>
                  </a:lnTo>
                  <a:lnTo>
                    <a:pt x="7893" y="477152"/>
                  </a:lnTo>
                  <a:lnTo>
                    <a:pt x="29432" y="509127"/>
                  </a:lnTo>
                  <a:lnTo>
                    <a:pt x="61400" y="530695"/>
                  </a:lnTo>
                  <a:lnTo>
                    <a:pt x="100583" y="538607"/>
                  </a:lnTo>
                  <a:lnTo>
                    <a:pt x="438023" y="538607"/>
                  </a:lnTo>
                  <a:lnTo>
                    <a:pt x="477133" y="530695"/>
                  </a:lnTo>
                  <a:lnTo>
                    <a:pt x="509063" y="509127"/>
                  </a:lnTo>
                  <a:lnTo>
                    <a:pt x="530588" y="477152"/>
                  </a:lnTo>
                  <a:lnTo>
                    <a:pt x="538479" y="438022"/>
                  </a:lnTo>
                  <a:lnTo>
                    <a:pt x="538479" y="100583"/>
                  </a:lnTo>
                  <a:lnTo>
                    <a:pt x="530588" y="61454"/>
                  </a:lnTo>
                  <a:lnTo>
                    <a:pt x="509063" y="29479"/>
                  </a:lnTo>
                  <a:lnTo>
                    <a:pt x="477133" y="7911"/>
                  </a:lnTo>
                  <a:lnTo>
                    <a:pt x="438023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673843" y="5102860"/>
              <a:ext cx="538480" cy="539115"/>
            </a:xfrm>
            <a:custGeom>
              <a:avLst/>
              <a:gdLst/>
              <a:ahLst/>
              <a:cxnLst/>
              <a:rect l="l" t="t" r="r" b="b"/>
              <a:pathLst>
                <a:path w="538479" h="539114">
                  <a:moveTo>
                    <a:pt x="0" y="100583"/>
                  </a:moveTo>
                  <a:lnTo>
                    <a:pt x="7893" y="61454"/>
                  </a:lnTo>
                  <a:lnTo>
                    <a:pt x="29432" y="29479"/>
                  </a:lnTo>
                  <a:lnTo>
                    <a:pt x="61400" y="7911"/>
                  </a:lnTo>
                  <a:lnTo>
                    <a:pt x="100583" y="0"/>
                  </a:lnTo>
                  <a:lnTo>
                    <a:pt x="438023" y="0"/>
                  </a:lnTo>
                  <a:lnTo>
                    <a:pt x="477133" y="7911"/>
                  </a:lnTo>
                  <a:lnTo>
                    <a:pt x="509063" y="29479"/>
                  </a:lnTo>
                  <a:lnTo>
                    <a:pt x="530588" y="61454"/>
                  </a:lnTo>
                  <a:lnTo>
                    <a:pt x="538479" y="100583"/>
                  </a:lnTo>
                  <a:lnTo>
                    <a:pt x="538479" y="438022"/>
                  </a:lnTo>
                  <a:lnTo>
                    <a:pt x="530588" y="477152"/>
                  </a:lnTo>
                  <a:lnTo>
                    <a:pt x="509063" y="509127"/>
                  </a:lnTo>
                  <a:lnTo>
                    <a:pt x="477133" y="530695"/>
                  </a:lnTo>
                  <a:lnTo>
                    <a:pt x="438023" y="538607"/>
                  </a:lnTo>
                  <a:lnTo>
                    <a:pt x="100583" y="538607"/>
                  </a:lnTo>
                  <a:lnTo>
                    <a:pt x="61400" y="530695"/>
                  </a:lnTo>
                  <a:lnTo>
                    <a:pt x="29432" y="509127"/>
                  </a:lnTo>
                  <a:lnTo>
                    <a:pt x="7893" y="477152"/>
                  </a:lnTo>
                  <a:lnTo>
                    <a:pt x="0" y="438022"/>
                  </a:lnTo>
                  <a:lnTo>
                    <a:pt x="0" y="100583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0439781" y="5161279"/>
            <a:ext cx="32842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E4DFDF"/>
                </a:solidFill>
                <a:latin typeface="Calibri Light"/>
                <a:cs typeface="Calibri Light"/>
              </a:rPr>
              <a:t>Need</a:t>
            </a:r>
            <a:r>
              <a:rPr sz="2200" spc="-11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E4DFDF"/>
                </a:solidFill>
                <a:latin typeface="Calibri Light"/>
                <a:cs typeface="Calibri Light"/>
              </a:rPr>
              <a:t>for</a:t>
            </a:r>
            <a:r>
              <a:rPr sz="2200" spc="-9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200" spc="-35" dirty="0">
                <a:solidFill>
                  <a:srgbClr val="E4DFDF"/>
                </a:solidFill>
                <a:latin typeface="Calibri Light"/>
                <a:cs typeface="Calibri Light"/>
              </a:rPr>
              <a:t>ML-</a:t>
            </a:r>
            <a:r>
              <a:rPr sz="2200" spc="-20" dirty="0">
                <a:solidFill>
                  <a:srgbClr val="E4DFDF"/>
                </a:solidFill>
                <a:latin typeface="Calibri Light"/>
                <a:cs typeface="Calibri Light"/>
              </a:rPr>
              <a:t>Based</a:t>
            </a:r>
            <a:r>
              <a:rPr sz="2200" spc="-10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200" spc="-10" dirty="0">
                <a:solidFill>
                  <a:srgbClr val="E4DFDF"/>
                </a:solidFill>
                <a:latin typeface="Calibri Light"/>
                <a:cs typeface="Calibri Light"/>
              </a:rPr>
              <a:t>Detection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439781" y="5973521"/>
            <a:ext cx="335534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100"/>
              </a:spcBef>
            </a:pP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Automated,</a:t>
            </a:r>
            <a:r>
              <a:rPr sz="185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adaptive,</a:t>
            </a:r>
            <a:r>
              <a:rPr sz="1850" spc="-3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interpretable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methods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are</a:t>
            </a:r>
            <a:r>
              <a:rPr sz="185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essential.</a:t>
            </a:r>
            <a:endParaRPr sz="1850">
              <a:latin typeface="Calibri Light"/>
              <a:cs typeface="Calibri Light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8B23FB7-597B-B262-4703-DF5699659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800" y="7749512"/>
            <a:ext cx="2103302" cy="480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78815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8197" y="3718940"/>
            <a:ext cx="6711950" cy="650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100" spc="-35" dirty="0"/>
              <a:t>Problem</a:t>
            </a:r>
            <a:r>
              <a:rPr sz="4100" spc="-180" dirty="0"/>
              <a:t> </a:t>
            </a:r>
            <a:r>
              <a:rPr sz="4100" spc="-50" dirty="0"/>
              <a:t>Statement</a:t>
            </a:r>
            <a:r>
              <a:rPr sz="4100" spc="-135" dirty="0"/>
              <a:t> </a:t>
            </a:r>
            <a:r>
              <a:rPr sz="4100" dirty="0"/>
              <a:t>&amp;</a:t>
            </a:r>
            <a:r>
              <a:rPr sz="4100" spc="-125" dirty="0"/>
              <a:t> </a:t>
            </a:r>
            <a:r>
              <a:rPr sz="4100" spc="-10" dirty="0"/>
              <a:t>Objectives</a:t>
            </a:r>
            <a:endParaRPr sz="4100"/>
          </a:p>
        </p:txBody>
      </p:sp>
      <p:sp>
        <p:nvSpPr>
          <p:cNvPr id="4" name="object 4"/>
          <p:cNvSpPr txBox="1"/>
          <p:nvPr/>
        </p:nvSpPr>
        <p:spPr>
          <a:xfrm>
            <a:off x="768197" y="4946396"/>
            <a:ext cx="5118100" cy="1892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FFFFFF"/>
                </a:solidFill>
                <a:latin typeface="Calibri Light"/>
                <a:cs typeface="Calibri Light"/>
              </a:rPr>
              <a:t>Challenge</a:t>
            </a:r>
            <a:endParaRPr sz="205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Detect</a:t>
            </a:r>
            <a:r>
              <a:rPr sz="175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bots</a:t>
            </a:r>
            <a:r>
              <a:rPr sz="17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on</a:t>
            </a:r>
            <a:r>
              <a:rPr sz="1750" spc="-3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diverse</a:t>
            </a:r>
            <a:r>
              <a:rPr sz="175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Calibri Light"/>
                <a:cs typeface="Calibri Light"/>
              </a:rPr>
              <a:t>platforms</a:t>
            </a:r>
            <a:r>
              <a:rPr sz="175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with</a:t>
            </a:r>
            <a:r>
              <a:rPr sz="175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distinct</a:t>
            </a:r>
            <a:r>
              <a:rPr sz="175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data</a:t>
            </a:r>
            <a:r>
              <a:rPr sz="175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Calibri Light"/>
                <a:cs typeface="Calibri Light"/>
              </a:rPr>
              <a:t>types.</a:t>
            </a:r>
            <a:endParaRPr sz="175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750">
              <a:latin typeface="Calibri Light"/>
              <a:cs typeface="Calibri Ligh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50" spc="-10" dirty="0">
                <a:solidFill>
                  <a:srgbClr val="E4DFDF"/>
                </a:solidFill>
                <a:latin typeface="Calibri Light"/>
                <a:cs typeface="Calibri Light"/>
              </a:rPr>
              <a:t>Instagram</a:t>
            </a:r>
            <a:r>
              <a:rPr sz="175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focuses</a:t>
            </a:r>
            <a:r>
              <a:rPr sz="1750" spc="-3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on</a:t>
            </a:r>
            <a:r>
              <a:rPr sz="17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visual</a:t>
            </a:r>
            <a:r>
              <a:rPr sz="1750" spc="-3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Calibri Light"/>
                <a:cs typeface="Calibri Light"/>
              </a:rPr>
              <a:t>content.</a:t>
            </a:r>
            <a:endParaRPr sz="1750">
              <a:latin typeface="Calibri Light"/>
              <a:cs typeface="Calibri Light"/>
            </a:endParaRPr>
          </a:p>
          <a:p>
            <a:pPr marL="354965" indent="-342265">
              <a:lnSpc>
                <a:spcPct val="100000"/>
              </a:lnSpc>
              <a:spcBef>
                <a:spcPts val="1325"/>
              </a:spcBef>
              <a:buChar char="•"/>
              <a:tabLst>
                <a:tab pos="354965" algn="l"/>
              </a:tabLst>
            </a:pPr>
            <a:r>
              <a:rPr sz="1750" spc="-20" dirty="0">
                <a:solidFill>
                  <a:srgbClr val="E4DFDF"/>
                </a:solidFill>
                <a:latin typeface="Calibri Light"/>
                <a:cs typeface="Calibri Light"/>
              </a:rPr>
              <a:t>Twitter</a:t>
            </a:r>
            <a:r>
              <a:rPr sz="1750" spc="-2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relies</a:t>
            </a:r>
            <a:r>
              <a:rPr sz="1750" spc="-2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on</a:t>
            </a:r>
            <a:r>
              <a:rPr sz="1750" spc="-1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spc="-20" dirty="0">
                <a:solidFill>
                  <a:srgbClr val="E4DFDF"/>
                </a:solidFill>
                <a:latin typeface="Calibri Light"/>
                <a:cs typeface="Calibri Light"/>
              </a:rPr>
              <a:t>text-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heavy</a:t>
            </a:r>
            <a:r>
              <a:rPr sz="1750" spc="-3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spc="-20" dirty="0">
                <a:solidFill>
                  <a:srgbClr val="E4DFDF"/>
                </a:solidFill>
                <a:latin typeface="Calibri Light"/>
                <a:cs typeface="Calibri Light"/>
              </a:rPr>
              <a:t>data.</a:t>
            </a:r>
            <a:endParaRPr sz="175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82916" y="4946396"/>
            <a:ext cx="5493385" cy="2205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25" dirty="0">
                <a:solidFill>
                  <a:srgbClr val="FFFFFF"/>
                </a:solidFill>
                <a:latin typeface="Calibri Light"/>
                <a:cs typeface="Calibri Light"/>
              </a:rPr>
              <a:t>Approach</a:t>
            </a:r>
            <a:r>
              <a:rPr sz="205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50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205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50" spc="-20" dirty="0">
                <a:solidFill>
                  <a:srgbClr val="FFFFFF"/>
                </a:solidFill>
                <a:latin typeface="Calibri Light"/>
                <a:cs typeface="Calibri Light"/>
              </a:rPr>
              <a:t>Goals</a:t>
            </a:r>
            <a:endParaRPr sz="2050">
              <a:latin typeface="Calibri Light"/>
              <a:cs typeface="Calibri Light"/>
            </a:endParaRPr>
          </a:p>
          <a:p>
            <a:pPr marL="354965" indent="-342265">
              <a:lnSpc>
                <a:spcPct val="100000"/>
              </a:lnSpc>
              <a:spcBef>
                <a:spcPts val="2325"/>
              </a:spcBef>
              <a:buChar char="•"/>
              <a:tabLst>
                <a:tab pos="354965" algn="l"/>
              </a:tabLst>
            </a:pP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Extract</a:t>
            </a:r>
            <a:r>
              <a:rPr sz="1750" spc="-2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spc="-20" dirty="0">
                <a:solidFill>
                  <a:srgbClr val="E4DFDF"/>
                </a:solidFill>
                <a:latin typeface="Calibri Light"/>
                <a:cs typeface="Calibri Light"/>
              </a:rPr>
              <a:t>platform-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specific</a:t>
            </a:r>
            <a:r>
              <a:rPr sz="1750" spc="-1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Calibri Light"/>
                <a:cs typeface="Calibri Light"/>
              </a:rPr>
              <a:t>behavioral</a:t>
            </a:r>
            <a:r>
              <a:rPr sz="1750" spc="-3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and</a:t>
            </a:r>
            <a:r>
              <a:rPr sz="1750" spc="-1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Calibri Light"/>
                <a:cs typeface="Calibri Light"/>
              </a:rPr>
              <a:t>content</a:t>
            </a:r>
            <a:r>
              <a:rPr sz="175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Calibri Light"/>
                <a:cs typeface="Calibri Light"/>
              </a:rPr>
              <a:t>features.</a:t>
            </a:r>
            <a:endParaRPr sz="1750">
              <a:latin typeface="Calibri Light"/>
              <a:cs typeface="Calibri Light"/>
            </a:endParaRPr>
          </a:p>
          <a:p>
            <a:pPr marL="354965" indent="-342265">
              <a:lnSpc>
                <a:spcPct val="100000"/>
              </a:lnSpc>
              <a:spcBef>
                <a:spcPts val="1325"/>
              </a:spcBef>
              <a:buChar char="•"/>
              <a:tabLst>
                <a:tab pos="354965" algn="l"/>
              </a:tabLst>
            </a:pPr>
            <a:r>
              <a:rPr sz="1750" spc="-25" dirty="0">
                <a:solidFill>
                  <a:srgbClr val="E4DFDF"/>
                </a:solidFill>
                <a:latin typeface="Calibri Light"/>
                <a:cs typeface="Calibri Light"/>
              </a:rPr>
              <a:t>Train</a:t>
            </a:r>
            <a:r>
              <a:rPr sz="1750" spc="-7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Random</a:t>
            </a:r>
            <a:r>
              <a:rPr sz="1750" spc="-7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Forest</a:t>
            </a:r>
            <a:r>
              <a:rPr sz="1750" spc="-7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classifiers</a:t>
            </a:r>
            <a:r>
              <a:rPr sz="175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for</a:t>
            </a:r>
            <a:r>
              <a:rPr sz="1750" spc="-7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robust</a:t>
            </a:r>
            <a:r>
              <a:rPr sz="175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Calibri Light"/>
                <a:cs typeface="Calibri Light"/>
              </a:rPr>
              <a:t>prediction.</a:t>
            </a:r>
            <a:endParaRPr sz="1750">
              <a:latin typeface="Calibri Light"/>
              <a:cs typeface="Calibri Light"/>
            </a:endParaRPr>
          </a:p>
          <a:p>
            <a:pPr marL="354965" indent="-342265">
              <a:lnSpc>
                <a:spcPct val="100000"/>
              </a:lnSpc>
              <a:spcBef>
                <a:spcPts val="1325"/>
              </a:spcBef>
              <a:buChar char="•"/>
              <a:tabLst>
                <a:tab pos="354965" algn="l"/>
              </a:tabLst>
            </a:pP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Use</a:t>
            </a:r>
            <a:r>
              <a:rPr sz="175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Calibri Light"/>
                <a:cs typeface="Calibri Light"/>
              </a:rPr>
              <a:t>TF-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IDF</a:t>
            </a:r>
            <a:r>
              <a:rPr sz="175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for</a:t>
            </a:r>
            <a:r>
              <a:rPr sz="1750" spc="-3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nuanced</a:t>
            </a:r>
            <a:r>
              <a:rPr sz="1750" spc="-3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Calibri Light"/>
                <a:cs typeface="Calibri Light"/>
              </a:rPr>
              <a:t>Twitter</a:t>
            </a:r>
            <a:r>
              <a:rPr sz="17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text</a:t>
            </a:r>
            <a:r>
              <a:rPr sz="1750" spc="-3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Calibri Light"/>
                <a:cs typeface="Calibri Light"/>
              </a:rPr>
              <a:t>analysis.</a:t>
            </a:r>
            <a:endParaRPr sz="1750">
              <a:latin typeface="Calibri Light"/>
              <a:cs typeface="Calibri Light"/>
            </a:endParaRPr>
          </a:p>
          <a:p>
            <a:pPr marL="354965" indent="-342265">
              <a:lnSpc>
                <a:spcPct val="100000"/>
              </a:lnSpc>
              <a:spcBef>
                <a:spcPts val="1325"/>
              </a:spcBef>
              <a:buChar char="•"/>
              <a:tabLst>
                <a:tab pos="354965" algn="l"/>
              </a:tabLst>
            </a:pPr>
            <a:r>
              <a:rPr sz="1750" spc="-10" dirty="0">
                <a:solidFill>
                  <a:srgbClr val="E4DFDF"/>
                </a:solidFill>
                <a:latin typeface="Calibri Light"/>
                <a:cs typeface="Calibri Light"/>
              </a:rPr>
              <a:t>Evaluate</a:t>
            </a:r>
            <a:r>
              <a:rPr sz="175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with</a:t>
            </a:r>
            <a:r>
              <a:rPr sz="175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spc="-20" dirty="0">
                <a:solidFill>
                  <a:srgbClr val="E4DFDF"/>
                </a:solidFill>
                <a:latin typeface="Calibri Light"/>
                <a:cs typeface="Calibri Light"/>
              </a:rPr>
              <a:t>Accuracy,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Precision,</a:t>
            </a:r>
            <a:r>
              <a:rPr sz="175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Recall,</a:t>
            </a:r>
            <a:r>
              <a:rPr sz="175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dirty="0">
                <a:solidFill>
                  <a:srgbClr val="E4DFDF"/>
                </a:solidFill>
                <a:latin typeface="Calibri Light"/>
                <a:cs typeface="Calibri Light"/>
              </a:rPr>
              <a:t>F1,</a:t>
            </a:r>
            <a:r>
              <a:rPr sz="175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750" spc="-20" dirty="0">
                <a:solidFill>
                  <a:srgbClr val="E4DFDF"/>
                </a:solidFill>
                <a:latin typeface="Calibri Light"/>
                <a:cs typeface="Calibri Light"/>
              </a:rPr>
              <a:t>ROC-AUC.</a:t>
            </a:r>
            <a:endParaRPr sz="1750">
              <a:latin typeface="Calibri Light"/>
              <a:cs typeface="Calibri Ligh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8694" y="7742756"/>
            <a:ext cx="2146681" cy="4138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6020EC-94E2-57B4-DD69-C6F1743E0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9398" y="7620000"/>
            <a:ext cx="2670704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11900" y="1101293"/>
            <a:ext cx="57277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Significance</a:t>
            </a:r>
            <a:r>
              <a:rPr spc="-155" dirty="0"/>
              <a:t> </a:t>
            </a:r>
            <a:r>
              <a:rPr dirty="0"/>
              <a:t>of</a:t>
            </a:r>
            <a:r>
              <a:rPr spc="-135" dirty="0"/>
              <a:t> </a:t>
            </a:r>
            <a:r>
              <a:rPr dirty="0"/>
              <a:t>the</a:t>
            </a:r>
            <a:r>
              <a:rPr spc="-150" dirty="0"/>
              <a:t> </a:t>
            </a:r>
            <a:r>
              <a:rPr spc="-20" dirty="0"/>
              <a:t>Project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320282" y="2208402"/>
            <a:ext cx="3622675" cy="2498090"/>
            <a:chOff x="6320282" y="2208402"/>
            <a:chExt cx="3622675" cy="2498090"/>
          </a:xfrm>
        </p:grpSpPr>
        <p:sp>
          <p:nvSpPr>
            <p:cNvPr id="5" name="object 5"/>
            <p:cNvSpPr/>
            <p:nvPr/>
          </p:nvSpPr>
          <p:spPr>
            <a:xfrm>
              <a:off x="6324092" y="2212212"/>
              <a:ext cx="3615054" cy="2490470"/>
            </a:xfrm>
            <a:custGeom>
              <a:avLst/>
              <a:gdLst/>
              <a:ahLst/>
              <a:cxnLst/>
              <a:rect l="l" t="t" r="r" b="b"/>
              <a:pathLst>
                <a:path w="3615054" h="2490470">
                  <a:moveTo>
                    <a:pt x="3514090" y="0"/>
                  </a:moveTo>
                  <a:lnTo>
                    <a:pt x="100584" y="0"/>
                  </a:lnTo>
                  <a:lnTo>
                    <a:pt x="61454" y="7891"/>
                  </a:lnTo>
                  <a:lnTo>
                    <a:pt x="29479" y="29416"/>
                  </a:lnTo>
                  <a:lnTo>
                    <a:pt x="7911" y="61346"/>
                  </a:lnTo>
                  <a:lnTo>
                    <a:pt x="0" y="100457"/>
                  </a:lnTo>
                  <a:lnTo>
                    <a:pt x="0" y="2389886"/>
                  </a:lnTo>
                  <a:lnTo>
                    <a:pt x="7911" y="2428996"/>
                  </a:lnTo>
                  <a:lnTo>
                    <a:pt x="29479" y="2460926"/>
                  </a:lnTo>
                  <a:lnTo>
                    <a:pt x="61454" y="2482451"/>
                  </a:lnTo>
                  <a:lnTo>
                    <a:pt x="100584" y="2490342"/>
                  </a:lnTo>
                  <a:lnTo>
                    <a:pt x="3514090" y="2490342"/>
                  </a:lnTo>
                  <a:lnTo>
                    <a:pt x="3553219" y="2482451"/>
                  </a:lnTo>
                  <a:lnTo>
                    <a:pt x="3585194" y="2460926"/>
                  </a:lnTo>
                  <a:lnTo>
                    <a:pt x="3606762" y="2428996"/>
                  </a:lnTo>
                  <a:lnTo>
                    <a:pt x="3614674" y="2389886"/>
                  </a:lnTo>
                  <a:lnTo>
                    <a:pt x="3614674" y="100457"/>
                  </a:lnTo>
                  <a:lnTo>
                    <a:pt x="3606762" y="61346"/>
                  </a:lnTo>
                  <a:lnTo>
                    <a:pt x="3585194" y="29416"/>
                  </a:lnTo>
                  <a:lnTo>
                    <a:pt x="3553219" y="7891"/>
                  </a:lnTo>
                  <a:lnTo>
                    <a:pt x="3514090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24092" y="2212212"/>
              <a:ext cx="3615054" cy="2490470"/>
            </a:xfrm>
            <a:custGeom>
              <a:avLst/>
              <a:gdLst/>
              <a:ahLst/>
              <a:cxnLst/>
              <a:rect l="l" t="t" r="r" b="b"/>
              <a:pathLst>
                <a:path w="3615054" h="2490470">
                  <a:moveTo>
                    <a:pt x="0" y="100457"/>
                  </a:moveTo>
                  <a:lnTo>
                    <a:pt x="7911" y="61346"/>
                  </a:lnTo>
                  <a:lnTo>
                    <a:pt x="29479" y="29416"/>
                  </a:lnTo>
                  <a:lnTo>
                    <a:pt x="61454" y="7891"/>
                  </a:lnTo>
                  <a:lnTo>
                    <a:pt x="100584" y="0"/>
                  </a:lnTo>
                  <a:lnTo>
                    <a:pt x="3514090" y="0"/>
                  </a:lnTo>
                  <a:lnTo>
                    <a:pt x="3553219" y="7891"/>
                  </a:lnTo>
                  <a:lnTo>
                    <a:pt x="3585194" y="29416"/>
                  </a:lnTo>
                  <a:lnTo>
                    <a:pt x="3606762" y="61346"/>
                  </a:lnTo>
                  <a:lnTo>
                    <a:pt x="3614674" y="100457"/>
                  </a:lnTo>
                  <a:lnTo>
                    <a:pt x="3614674" y="2389886"/>
                  </a:lnTo>
                  <a:lnTo>
                    <a:pt x="3606762" y="2428996"/>
                  </a:lnTo>
                  <a:lnTo>
                    <a:pt x="3585194" y="2460926"/>
                  </a:lnTo>
                  <a:lnTo>
                    <a:pt x="3553219" y="2482451"/>
                  </a:lnTo>
                  <a:lnTo>
                    <a:pt x="3514090" y="2490342"/>
                  </a:lnTo>
                  <a:lnTo>
                    <a:pt x="100584" y="2490342"/>
                  </a:lnTo>
                  <a:lnTo>
                    <a:pt x="61454" y="2482451"/>
                  </a:lnTo>
                  <a:lnTo>
                    <a:pt x="29479" y="2460926"/>
                  </a:lnTo>
                  <a:lnTo>
                    <a:pt x="7911" y="2428996"/>
                  </a:lnTo>
                  <a:lnTo>
                    <a:pt x="0" y="2389886"/>
                  </a:lnTo>
                  <a:lnTo>
                    <a:pt x="0" y="100457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559042" y="2434843"/>
            <a:ext cx="173926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solidFill>
                  <a:srgbClr val="E4DFDF"/>
                </a:solidFill>
                <a:latin typeface="Calibri Light"/>
                <a:cs typeface="Calibri Light"/>
              </a:rPr>
              <a:t>Growing</a:t>
            </a:r>
            <a:r>
              <a:rPr sz="220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200" spc="-10" dirty="0">
                <a:solidFill>
                  <a:srgbClr val="E4DFDF"/>
                </a:solidFill>
                <a:latin typeface="Calibri Light"/>
                <a:cs typeface="Calibri Light"/>
              </a:rPr>
              <a:t>Threat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59042" y="2895041"/>
            <a:ext cx="3118485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100"/>
              </a:spcBef>
            </a:pP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Social</a:t>
            </a:r>
            <a:r>
              <a:rPr sz="1850" spc="-2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bots</a:t>
            </a:r>
            <a:r>
              <a:rPr sz="185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increasingly</a:t>
            </a:r>
            <a:r>
              <a:rPr sz="185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influence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politics,</a:t>
            </a:r>
            <a:r>
              <a:rPr sz="185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scams,</a:t>
            </a:r>
            <a:r>
              <a:rPr sz="1850" spc="-7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25" dirty="0">
                <a:solidFill>
                  <a:srgbClr val="E4DFDF"/>
                </a:solidFill>
                <a:latin typeface="Calibri Light"/>
                <a:cs typeface="Calibri Light"/>
              </a:rPr>
              <a:t>and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misinformation.</a:t>
            </a:r>
            <a:endParaRPr sz="1850">
              <a:latin typeface="Calibri Light"/>
              <a:cs typeface="Calibri Ligh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174223" y="2208402"/>
            <a:ext cx="3622675" cy="2498090"/>
            <a:chOff x="10174223" y="2208402"/>
            <a:chExt cx="3622675" cy="2498090"/>
          </a:xfrm>
        </p:grpSpPr>
        <p:sp>
          <p:nvSpPr>
            <p:cNvPr id="10" name="object 10"/>
            <p:cNvSpPr/>
            <p:nvPr/>
          </p:nvSpPr>
          <p:spPr>
            <a:xfrm>
              <a:off x="10178033" y="2212212"/>
              <a:ext cx="3615054" cy="2490470"/>
            </a:xfrm>
            <a:custGeom>
              <a:avLst/>
              <a:gdLst/>
              <a:ahLst/>
              <a:cxnLst/>
              <a:rect l="l" t="t" r="r" b="b"/>
              <a:pathLst>
                <a:path w="3615055" h="2490470">
                  <a:moveTo>
                    <a:pt x="3514089" y="0"/>
                  </a:moveTo>
                  <a:lnTo>
                    <a:pt x="100584" y="0"/>
                  </a:lnTo>
                  <a:lnTo>
                    <a:pt x="61454" y="7891"/>
                  </a:lnTo>
                  <a:lnTo>
                    <a:pt x="29479" y="29416"/>
                  </a:lnTo>
                  <a:lnTo>
                    <a:pt x="7911" y="61346"/>
                  </a:lnTo>
                  <a:lnTo>
                    <a:pt x="0" y="100457"/>
                  </a:lnTo>
                  <a:lnTo>
                    <a:pt x="0" y="2389886"/>
                  </a:lnTo>
                  <a:lnTo>
                    <a:pt x="7911" y="2428996"/>
                  </a:lnTo>
                  <a:lnTo>
                    <a:pt x="29479" y="2460926"/>
                  </a:lnTo>
                  <a:lnTo>
                    <a:pt x="61454" y="2482451"/>
                  </a:lnTo>
                  <a:lnTo>
                    <a:pt x="100584" y="2490342"/>
                  </a:lnTo>
                  <a:lnTo>
                    <a:pt x="3514089" y="2490342"/>
                  </a:lnTo>
                  <a:lnTo>
                    <a:pt x="3553219" y="2482451"/>
                  </a:lnTo>
                  <a:lnTo>
                    <a:pt x="3585194" y="2460926"/>
                  </a:lnTo>
                  <a:lnTo>
                    <a:pt x="3606762" y="2428996"/>
                  </a:lnTo>
                  <a:lnTo>
                    <a:pt x="3614674" y="2389886"/>
                  </a:lnTo>
                  <a:lnTo>
                    <a:pt x="3614674" y="100457"/>
                  </a:lnTo>
                  <a:lnTo>
                    <a:pt x="3606762" y="61346"/>
                  </a:lnTo>
                  <a:lnTo>
                    <a:pt x="3585194" y="29416"/>
                  </a:lnTo>
                  <a:lnTo>
                    <a:pt x="3553219" y="7891"/>
                  </a:lnTo>
                  <a:lnTo>
                    <a:pt x="3514089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78033" y="2212212"/>
              <a:ext cx="3615054" cy="2490470"/>
            </a:xfrm>
            <a:custGeom>
              <a:avLst/>
              <a:gdLst/>
              <a:ahLst/>
              <a:cxnLst/>
              <a:rect l="l" t="t" r="r" b="b"/>
              <a:pathLst>
                <a:path w="3615055" h="2490470">
                  <a:moveTo>
                    <a:pt x="0" y="100457"/>
                  </a:moveTo>
                  <a:lnTo>
                    <a:pt x="7911" y="61346"/>
                  </a:lnTo>
                  <a:lnTo>
                    <a:pt x="29479" y="29416"/>
                  </a:lnTo>
                  <a:lnTo>
                    <a:pt x="61454" y="7891"/>
                  </a:lnTo>
                  <a:lnTo>
                    <a:pt x="100584" y="0"/>
                  </a:lnTo>
                  <a:lnTo>
                    <a:pt x="3514089" y="0"/>
                  </a:lnTo>
                  <a:lnTo>
                    <a:pt x="3553219" y="7891"/>
                  </a:lnTo>
                  <a:lnTo>
                    <a:pt x="3585194" y="29416"/>
                  </a:lnTo>
                  <a:lnTo>
                    <a:pt x="3606762" y="61346"/>
                  </a:lnTo>
                  <a:lnTo>
                    <a:pt x="3614674" y="100457"/>
                  </a:lnTo>
                  <a:lnTo>
                    <a:pt x="3614674" y="2389886"/>
                  </a:lnTo>
                  <a:lnTo>
                    <a:pt x="3606762" y="2428996"/>
                  </a:lnTo>
                  <a:lnTo>
                    <a:pt x="3585194" y="2460926"/>
                  </a:lnTo>
                  <a:lnTo>
                    <a:pt x="3553219" y="2482451"/>
                  </a:lnTo>
                  <a:lnTo>
                    <a:pt x="3514089" y="2490342"/>
                  </a:lnTo>
                  <a:lnTo>
                    <a:pt x="100584" y="2490342"/>
                  </a:lnTo>
                  <a:lnTo>
                    <a:pt x="61454" y="2482451"/>
                  </a:lnTo>
                  <a:lnTo>
                    <a:pt x="29479" y="2460926"/>
                  </a:lnTo>
                  <a:lnTo>
                    <a:pt x="7911" y="2428996"/>
                  </a:lnTo>
                  <a:lnTo>
                    <a:pt x="0" y="2389886"/>
                  </a:lnTo>
                  <a:lnTo>
                    <a:pt x="0" y="100457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413238" y="2434843"/>
            <a:ext cx="29444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35" dirty="0">
                <a:solidFill>
                  <a:srgbClr val="E4DFDF"/>
                </a:solidFill>
                <a:latin typeface="Calibri Light"/>
                <a:cs typeface="Calibri Light"/>
              </a:rPr>
              <a:t>Cross-</a:t>
            </a:r>
            <a:r>
              <a:rPr sz="2200" spc="-30" dirty="0">
                <a:solidFill>
                  <a:srgbClr val="E4DFDF"/>
                </a:solidFill>
                <a:latin typeface="Calibri Light"/>
                <a:cs typeface="Calibri Light"/>
              </a:rPr>
              <a:t>Platform</a:t>
            </a:r>
            <a:r>
              <a:rPr sz="2200" spc="-1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200" spc="-10" dirty="0">
                <a:solidFill>
                  <a:srgbClr val="E4DFDF"/>
                </a:solidFill>
                <a:latin typeface="Calibri Light"/>
                <a:cs typeface="Calibri Light"/>
              </a:rPr>
              <a:t>Complexity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413238" y="3247085"/>
            <a:ext cx="2651125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100"/>
              </a:spcBef>
            </a:pP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Detection</a:t>
            </a:r>
            <a:r>
              <a:rPr sz="1850" spc="-3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needs</a:t>
            </a:r>
            <a:r>
              <a:rPr sz="1850" spc="-3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tailored strategies</a:t>
            </a:r>
            <a:r>
              <a:rPr sz="185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for</a:t>
            </a:r>
            <a:r>
              <a:rPr sz="185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Instagram</a:t>
            </a:r>
            <a:r>
              <a:rPr sz="1850" spc="-25" dirty="0">
                <a:solidFill>
                  <a:srgbClr val="E4DFDF"/>
                </a:solidFill>
                <a:latin typeface="Calibri Light"/>
                <a:cs typeface="Calibri Light"/>
              </a:rPr>
              <a:t> and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Twitter.</a:t>
            </a:r>
            <a:endParaRPr sz="1850">
              <a:latin typeface="Calibri Light"/>
              <a:cs typeface="Calibri Ligh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320282" y="4938140"/>
            <a:ext cx="3622675" cy="2146300"/>
            <a:chOff x="6320282" y="4938140"/>
            <a:chExt cx="3622675" cy="2146300"/>
          </a:xfrm>
        </p:grpSpPr>
        <p:sp>
          <p:nvSpPr>
            <p:cNvPr id="15" name="object 15"/>
            <p:cNvSpPr/>
            <p:nvPr/>
          </p:nvSpPr>
          <p:spPr>
            <a:xfrm>
              <a:off x="6324092" y="4941950"/>
              <a:ext cx="3615054" cy="2138680"/>
            </a:xfrm>
            <a:custGeom>
              <a:avLst/>
              <a:gdLst/>
              <a:ahLst/>
              <a:cxnLst/>
              <a:rect l="l" t="t" r="r" b="b"/>
              <a:pathLst>
                <a:path w="3615054" h="2138679">
                  <a:moveTo>
                    <a:pt x="3514090" y="0"/>
                  </a:moveTo>
                  <a:lnTo>
                    <a:pt x="100584" y="0"/>
                  </a:lnTo>
                  <a:lnTo>
                    <a:pt x="61454" y="7891"/>
                  </a:lnTo>
                  <a:lnTo>
                    <a:pt x="29479" y="29416"/>
                  </a:lnTo>
                  <a:lnTo>
                    <a:pt x="7911" y="61346"/>
                  </a:lnTo>
                  <a:lnTo>
                    <a:pt x="0" y="100456"/>
                  </a:lnTo>
                  <a:lnTo>
                    <a:pt x="0" y="2037930"/>
                  </a:lnTo>
                  <a:lnTo>
                    <a:pt x="7911" y="2077061"/>
                  </a:lnTo>
                  <a:lnTo>
                    <a:pt x="29479" y="2109012"/>
                  </a:lnTo>
                  <a:lnTo>
                    <a:pt x="61454" y="2130553"/>
                  </a:lnTo>
                  <a:lnTo>
                    <a:pt x="100584" y="2138451"/>
                  </a:lnTo>
                  <a:lnTo>
                    <a:pt x="3514090" y="2138451"/>
                  </a:lnTo>
                  <a:lnTo>
                    <a:pt x="3553219" y="2130553"/>
                  </a:lnTo>
                  <a:lnTo>
                    <a:pt x="3585194" y="2109012"/>
                  </a:lnTo>
                  <a:lnTo>
                    <a:pt x="3606762" y="2077061"/>
                  </a:lnTo>
                  <a:lnTo>
                    <a:pt x="3614674" y="2037930"/>
                  </a:lnTo>
                  <a:lnTo>
                    <a:pt x="3614674" y="100456"/>
                  </a:lnTo>
                  <a:lnTo>
                    <a:pt x="3606762" y="61346"/>
                  </a:lnTo>
                  <a:lnTo>
                    <a:pt x="3585194" y="29416"/>
                  </a:lnTo>
                  <a:lnTo>
                    <a:pt x="3553219" y="7891"/>
                  </a:lnTo>
                  <a:lnTo>
                    <a:pt x="3514090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24092" y="4941950"/>
              <a:ext cx="3615054" cy="2138680"/>
            </a:xfrm>
            <a:custGeom>
              <a:avLst/>
              <a:gdLst/>
              <a:ahLst/>
              <a:cxnLst/>
              <a:rect l="l" t="t" r="r" b="b"/>
              <a:pathLst>
                <a:path w="3615054" h="2138679">
                  <a:moveTo>
                    <a:pt x="0" y="100456"/>
                  </a:moveTo>
                  <a:lnTo>
                    <a:pt x="7911" y="61346"/>
                  </a:lnTo>
                  <a:lnTo>
                    <a:pt x="29479" y="29416"/>
                  </a:lnTo>
                  <a:lnTo>
                    <a:pt x="61454" y="7891"/>
                  </a:lnTo>
                  <a:lnTo>
                    <a:pt x="100584" y="0"/>
                  </a:lnTo>
                  <a:lnTo>
                    <a:pt x="3514090" y="0"/>
                  </a:lnTo>
                  <a:lnTo>
                    <a:pt x="3553219" y="7891"/>
                  </a:lnTo>
                  <a:lnTo>
                    <a:pt x="3585194" y="29416"/>
                  </a:lnTo>
                  <a:lnTo>
                    <a:pt x="3606762" y="61346"/>
                  </a:lnTo>
                  <a:lnTo>
                    <a:pt x="3614674" y="100456"/>
                  </a:lnTo>
                  <a:lnTo>
                    <a:pt x="3614674" y="2037930"/>
                  </a:lnTo>
                  <a:lnTo>
                    <a:pt x="3606762" y="2077061"/>
                  </a:lnTo>
                  <a:lnTo>
                    <a:pt x="3585194" y="2109012"/>
                  </a:lnTo>
                  <a:lnTo>
                    <a:pt x="3553219" y="2130553"/>
                  </a:lnTo>
                  <a:lnTo>
                    <a:pt x="3514090" y="2138451"/>
                  </a:lnTo>
                  <a:lnTo>
                    <a:pt x="100584" y="2138451"/>
                  </a:lnTo>
                  <a:lnTo>
                    <a:pt x="61454" y="2130553"/>
                  </a:lnTo>
                  <a:lnTo>
                    <a:pt x="29479" y="2109012"/>
                  </a:lnTo>
                  <a:lnTo>
                    <a:pt x="7911" y="2077061"/>
                  </a:lnTo>
                  <a:lnTo>
                    <a:pt x="0" y="2037930"/>
                  </a:lnTo>
                  <a:lnTo>
                    <a:pt x="0" y="100456"/>
                  </a:lnTo>
                  <a:close/>
                </a:path>
              </a:pathLst>
            </a:custGeom>
            <a:ln w="7619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559042" y="5164963"/>
            <a:ext cx="25387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solidFill>
                  <a:srgbClr val="E4DFDF"/>
                </a:solidFill>
                <a:latin typeface="Calibri Light"/>
                <a:cs typeface="Calibri Light"/>
              </a:rPr>
              <a:t>Impactful</a:t>
            </a:r>
            <a:r>
              <a:rPr sz="220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200" spc="-10" dirty="0">
                <a:solidFill>
                  <a:srgbClr val="E4DFDF"/>
                </a:solidFill>
                <a:latin typeface="Calibri Light"/>
                <a:cs typeface="Calibri Light"/>
              </a:rPr>
              <a:t>Contribution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59042" y="5624779"/>
            <a:ext cx="2902585" cy="788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300"/>
              </a:lnSpc>
              <a:spcBef>
                <a:spcPts val="100"/>
              </a:spcBef>
            </a:pP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Combines</a:t>
            </a:r>
            <a:r>
              <a:rPr sz="1850" spc="-7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text</a:t>
            </a:r>
            <a:r>
              <a:rPr sz="1850" spc="-8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processing</a:t>
            </a:r>
            <a:r>
              <a:rPr sz="1850" spc="-7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20" dirty="0">
                <a:solidFill>
                  <a:srgbClr val="E4DFDF"/>
                </a:solidFill>
                <a:latin typeface="Calibri Light"/>
                <a:cs typeface="Calibri Light"/>
              </a:rPr>
              <a:t>with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behavioral</a:t>
            </a:r>
            <a:r>
              <a:rPr sz="185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analytics.</a:t>
            </a:r>
            <a:endParaRPr sz="1850">
              <a:latin typeface="Calibri Light"/>
              <a:cs typeface="Calibri Ligh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174223" y="4938140"/>
            <a:ext cx="3622675" cy="2146300"/>
            <a:chOff x="10174223" y="4938140"/>
            <a:chExt cx="3622675" cy="2146300"/>
          </a:xfrm>
        </p:grpSpPr>
        <p:sp>
          <p:nvSpPr>
            <p:cNvPr id="20" name="object 20"/>
            <p:cNvSpPr/>
            <p:nvPr/>
          </p:nvSpPr>
          <p:spPr>
            <a:xfrm>
              <a:off x="10178033" y="4941950"/>
              <a:ext cx="3615054" cy="2138680"/>
            </a:xfrm>
            <a:custGeom>
              <a:avLst/>
              <a:gdLst/>
              <a:ahLst/>
              <a:cxnLst/>
              <a:rect l="l" t="t" r="r" b="b"/>
              <a:pathLst>
                <a:path w="3615055" h="2138679">
                  <a:moveTo>
                    <a:pt x="3514089" y="0"/>
                  </a:moveTo>
                  <a:lnTo>
                    <a:pt x="100584" y="0"/>
                  </a:lnTo>
                  <a:lnTo>
                    <a:pt x="61454" y="7891"/>
                  </a:lnTo>
                  <a:lnTo>
                    <a:pt x="29479" y="29416"/>
                  </a:lnTo>
                  <a:lnTo>
                    <a:pt x="7911" y="61346"/>
                  </a:lnTo>
                  <a:lnTo>
                    <a:pt x="0" y="100456"/>
                  </a:lnTo>
                  <a:lnTo>
                    <a:pt x="0" y="2037930"/>
                  </a:lnTo>
                  <a:lnTo>
                    <a:pt x="7911" y="2077061"/>
                  </a:lnTo>
                  <a:lnTo>
                    <a:pt x="29479" y="2109012"/>
                  </a:lnTo>
                  <a:lnTo>
                    <a:pt x="61454" y="2130553"/>
                  </a:lnTo>
                  <a:lnTo>
                    <a:pt x="100584" y="2138451"/>
                  </a:lnTo>
                  <a:lnTo>
                    <a:pt x="3514089" y="2138451"/>
                  </a:lnTo>
                  <a:lnTo>
                    <a:pt x="3553219" y="2130553"/>
                  </a:lnTo>
                  <a:lnTo>
                    <a:pt x="3585194" y="2109012"/>
                  </a:lnTo>
                  <a:lnTo>
                    <a:pt x="3606762" y="2077061"/>
                  </a:lnTo>
                  <a:lnTo>
                    <a:pt x="3614674" y="2037930"/>
                  </a:lnTo>
                  <a:lnTo>
                    <a:pt x="3614674" y="100456"/>
                  </a:lnTo>
                  <a:lnTo>
                    <a:pt x="3606762" y="61346"/>
                  </a:lnTo>
                  <a:lnTo>
                    <a:pt x="3585194" y="29416"/>
                  </a:lnTo>
                  <a:lnTo>
                    <a:pt x="3553219" y="7891"/>
                  </a:lnTo>
                  <a:lnTo>
                    <a:pt x="3514089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178033" y="4941950"/>
              <a:ext cx="3615054" cy="2138680"/>
            </a:xfrm>
            <a:custGeom>
              <a:avLst/>
              <a:gdLst/>
              <a:ahLst/>
              <a:cxnLst/>
              <a:rect l="l" t="t" r="r" b="b"/>
              <a:pathLst>
                <a:path w="3615055" h="2138679">
                  <a:moveTo>
                    <a:pt x="0" y="100456"/>
                  </a:moveTo>
                  <a:lnTo>
                    <a:pt x="7911" y="61346"/>
                  </a:lnTo>
                  <a:lnTo>
                    <a:pt x="29479" y="29416"/>
                  </a:lnTo>
                  <a:lnTo>
                    <a:pt x="61454" y="7891"/>
                  </a:lnTo>
                  <a:lnTo>
                    <a:pt x="100584" y="0"/>
                  </a:lnTo>
                  <a:lnTo>
                    <a:pt x="3514089" y="0"/>
                  </a:lnTo>
                  <a:lnTo>
                    <a:pt x="3553219" y="7891"/>
                  </a:lnTo>
                  <a:lnTo>
                    <a:pt x="3585194" y="29416"/>
                  </a:lnTo>
                  <a:lnTo>
                    <a:pt x="3606762" y="61346"/>
                  </a:lnTo>
                  <a:lnTo>
                    <a:pt x="3614674" y="100456"/>
                  </a:lnTo>
                  <a:lnTo>
                    <a:pt x="3614674" y="2037930"/>
                  </a:lnTo>
                  <a:lnTo>
                    <a:pt x="3606762" y="2077061"/>
                  </a:lnTo>
                  <a:lnTo>
                    <a:pt x="3585194" y="2109012"/>
                  </a:lnTo>
                  <a:lnTo>
                    <a:pt x="3553219" y="2130553"/>
                  </a:lnTo>
                  <a:lnTo>
                    <a:pt x="3514089" y="2138451"/>
                  </a:lnTo>
                  <a:lnTo>
                    <a:pt x="100584" y="2138451"/>
                  </a:lnTo>
                  <a:lnTo>
                    <a:pt x="61454" y="2130553"/>
                  </a:lnTo>
                  <a:lnTo>
                    <a:pt x="29479" y="2109012"/>
                  </a:lnTo>
                  <a:lnTo>
                    <a:pt x="7911" y="2077061"/>
                  </a:lnTo>
                  <a:lnTo>
                    <a:pt x="0" y="2037930"/>
                  </a:lnTo>
                  <a:lnTo>
                    <a:pt x="0" y="100456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0413238" y="5164963"/>
            <a:ext cx="18008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solidFill>
                  <a:srgbClr val="E4DFDF"/>
                </a:solidFill>
                <a:latin typeface="Calibri Light"/>
                <a:cs typeface="Calibri Light"/>
              </a:rPr>
              <a:t>Future</a:t>
            </a:r>
            <a:r>
              <a:rPr sz="2200" spc="-8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200" spc="-10" dirty="0">
                <a:solidFill>
                  <a:srgbClr val="E4DFDF"/>
                </a:solidFill>
                <a:latin typeface="Calibri Light"/>
                <a:cs typeface="Calibri Light"/>
              </a:rPr>
              <a:t>Potential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413238" y="5624779"/>
            <a:ext cx="3024505" cy="788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300"/>
              </a:lnSpc>
              <a:spcBef>
                <a:spcPts val="100"/>
              </a:spcBef>
            </a:pP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Foundation</a:t>
            </a:r>
            <a:r>
              <a:rPr sz="1850" spc="-1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for</a:t>
            </a:r>
            <a:r>
              <a:rPr sz="1850" spc="-2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25" dirty="0">
                <a:solidFill>
                  <a:srgbClr val="E4DFDF"/>
                </a:solidFill>
                <a:latin typeface="Calibri Light"/>
                <a:cs typeface="Calibri Light"/>
              </a:rPr>
              <a:t>real-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time,</a:t>
            </a:r>
            <a:r>
              <a:rPr sz="1850" spc="-2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cross-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platform</a:t>
            </a:r>
            <a:r>
              <a:rPr sz="185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bot</a:t>
            </a:r>
            <a:r>
              <a:rPr sz="185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detection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systems.</a:t>
            </a:r>
            <a:endParaRPr sz="1850">
              <a:latin typeface="Calibri Light"/>
              <a:cs typeface="Calibri Light"/>
            </a:endParaRPr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8694" y="7742756"/>
            <a:ext cx="2146681" cy="41385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D72E246-5776-9C08-2A25-6CBFD65B8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9398" y="7620000"/>
            <a:ext cx="2670704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9921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25195" y="4126483"/>
            <a:ext cx="45307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0" dirty="0">
                <a:solidFill>
                  <a:srgbClr val="FFFFFF"/>
                </a:solidFill>
                <a:latin typeface="Calibri Light"/>
                <a:cs typeface="Calibri Light"/>
              </a:rPr>
              <a:t>Dataset:</a:t>
            </a:r>
            <a:r>
              <a:rPr sz="4400" spc="-20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spc="-20" dirty="0">
                <a:solidFill>
                  <a:srgbClr val="FFFFFF"/>
                </a:solidFill>
                <a:latin typeface="Calibri Light"/>
                <a:cs typeface="Calibri Light"/>
              </a:rPr>
              <a:t>Cresci</a:t>
            </a:r>
            <a:r>
              <a:rPr sz="4400" spc="-2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spc="-20" dirty="0">
                <a:solidFill>
                  <a:srgbClr val="FFFFFF"/>
                </a:solidFill>
                <a:latin typeface="Calibri Light"/>
                <a:cs typeface="Calibri Light"/>
              </a:rPr>
              <a:t>2017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195" y="5475808"/>
            <a:ext cx="15455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0" dirty="0">
                <a:solidFill>
                  <a:srgbClr val="FFFFFF"/>
                </a:solidFill>
                <a:latin typeface="Calibri Light"/>
                <a:cs typeface="Calibri Light"/>
              </a:rPr>
              <a:t>Instagram</a:t>
            </a:r>
            <a:r>
              <a:rPr sz="20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 Light"/>
                <a:cs typeface="Calibri Light"/>
              </a:rPr>
              <a:t>Data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195" y="6113526"/>
            <a:ext cx="3122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Profile</a:t>
            </a:r>
            <a:r>
              <a:rPr sz="180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E4DFDF"/>
                </a:solidFill>
                <a:latin typeface="Calibri Light"/>
                <a:cs typeface="Calibri Light"/>
              </a:rPr>
              <a:t>metadata</a:t>
            </a:r>
            <a:r>
              <a:rPr sz="180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and</a:t>
            </a:r>
            <a:r>
              <a:rPr sz="180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activity</a:t>
            </a:r>
            <a:r>
              <a:rPr sz="180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spc="-20" dirty="0">
                <a:solidFill>
                  <a:srgbClr val="E4DFDF"/>
                </a:solidFill>
                <a:latin typeface="Calibri Light"/>
                <a:cs typeface="Calibri Light"/>
              </a:rPr>
              <a:t>logs.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45684" y="5475808"/>
            <a:ext cx="12579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0" dirty="0">
                <a:solidFill>
                  <a:srgbClr val="FFFFFF"/>
                </a:solidFill>
                <a:latin typeface="Calibri Light"/>
                <a:cs typeface="Calibri Light"/>
              </a:rPr>
              <a:t>Twitter</a:t>
            </a:r>
            <a:r>
              <a:rPr sz="2000" spc="-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 Light"/>
                <a:cs typeface="Calibri Light"/>
              </a:rPr>
              <a:t>Data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45684" y="6006846"/>
            <a:ext cx="292417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900"/>
              </a:lnSpc>
              <a:spcBef>
                <a:spcPts val="100"/>
              </a:spcBef>
            </a:pPr>
            <a:r>
              <a:rPr sz="1800" spc="-10" dirty="0">
                <a:solidFill>
                  <a:srgbClr val="E4DFDF"/>
                </a:solidFill>
                <a:latin typeface="Calibri Light"/>
                <a:cs typeface="Calibri Light"/>
              </a:rPr>
              <a:t>Tweets,</a:t>
            </a:r>
            <a:r>
              <a:rPr sz="180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E4DFDF"/>
                </a:solidFill>
                <a:latin typeface="Calibri Light"/>
                <a:cs typeface="Calibri Light"/>
              </a:rPr>
              <a:t>metadata,</a:t>
            </a:r>
            <a:r>
              <a:rPr sz="180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and</a:t>
            </a:r>
            <a:r>
              <a:rPr sz="1800" spc="-2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E4DFDF"/>
                </a:solidFill>
                <a:latin typeface="Calibri Light"/>
                <a:cs typeface="Calibri Light"/>
              </a:rPr>
              <a:t>network information.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66121" y="5475808"/>
            <a:ext cx="6604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libri Light"/>
                <a:cs typeface="Calibri Light"/>
              </a:rPr>
              <a:t>Labels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66121" y="6006846"/>
            <a:ext cx="343979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900"/>
              </a:lnSpc>
              <a:spcBef>
                <a:spcPts val="100"/>
              </a:spcBef>
            </a:pP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Bot</a:t>
            </a:r>
            <a:r>
              <a:rPr sz="180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and</a:t>
            </a:r>
            <a:r>
              <a:rPr sz="180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genuine</a:t>
            </a:r>
            <a:r>
              <a:rPr sz="1800" spc="-3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accounts</a:t>
            </a:r>
            <a:r>
              <a:rPr sz="180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labeled</a:t>
            </a:r>
            <a:r>
              <a:rPr sz="180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E4DFDF"/>
                </a:solidFill>
                <a:latin typeface="Calibri Light"/>
                <a:cs typeface="Calibri Light"/>
              </a:rPr>
              <a:t>for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supervised</a:t>
            </a:r>
            <a:r>
              <a:rPr sz="180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E4DFDF"/>
                </a:solidFill>
                <a:latin typeface="Calibri Light"/>
                <a:cs typeface="Calibri Light"/>
              </a:rPr>
              <a:t>learning.</a:t>
            </a:r>
            <a:endParaRPr sz="1800">
              <a:latin typeface="Calibri Light"/>
              <a:cs typeface="Calibri Ligh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8694" y="7742756"/>
            <a:ext cx="2146681" cy="4138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15B2B-06E5-D91C-4EEE-A8B1146B9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9398" y="7620000"/>
            <a:ext cx="2670704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2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5383" y="599948"/>
            <a:ext cx="414337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45" dirty="0"/>
              <a:t>Data</a:t>
            </a:r>
            <a:r>
              <a:rPr sz="4300" spc="-175" dirty="0"/>
              <a:t> </a:t>
            </a:r>
            <a:r>
              <a:rPr sz="4300" spc="-45" dirty="0"/>
              <a:t>Preprocessing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2324861" y="1886838"/>
            <a:ext cx="5358765" cy="846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20" dirty="0">
                <a:solidFill>
                  <a:srgbClr val="E4DFDF"/>
                </a:solidFill>
                <a:latin typeface="Calibri Light"/>
                <a:cs typeface="Calibri Light"/>
              </a:rPr>
              <a:t>Clean</a:t>
            </a:r>
            <a:r>
              <a:rPr sz="2150" spc="-8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150" dirty="0">
                <a:solidFill>
                  <a:srgbClr val="E4DFDF"/>
                </a:solidFill>
                <a:latin typeface="Calibri Light"/>
                <a:cs typeface="Calibri Light"/>
              </a:rPr>
              <a:t>and</a:t>
            </a:r>
            <a:r>
              <a:rPr sz="215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150" spc="-10" dirty="0">
                <a:solidFill>
                  <a:srgbClr val="E4DFDF"/>
                </a:solidFill>
                <a:latin typeface="Calibri Light"/>
                <a:cs typeface="Calibri Light"/>
              </a:rPr>
              <a:t>Normalize</a:t>
            </a:r>
            <a:endParaRPr sz="215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Handle</a:t>
            </a:r>
            <a:r>
              <a:rPr sz="180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missing</a:t>
            </a:r>
            <a:r>
              <a:rPr sz="1800" spc="-2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values;</a:t>
            </a:r>
            <a:r>
              <a:rPr sz="180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apply</a:t>
            </a:r>
            <a:r>
              <a:rPr sz="180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E4DFDF"/>
                </a:solidFill>
                <a:latin typeface="Calibri Light"/>
                <a:cs typeface="Calibri Light"/>
              </a:rPr>
              <a:t>Min-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Max</a:t>
            </a:r>
            <a:r>
              <a:rPr sz="180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scaling</a:t>
            </a:r>
            <a:r>
              <a:rPr sz="180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on</a:t>
            </a:r>
            <a:r>
              <a:rPr sz="180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E4DFDF"/>
                </a:solidFill>
                <a:latin typeface="Calibri Light"/>
                <a:cs typeface="Calibri Light"/>
              </a:rPr>
              <a:t>features.</a:t>
            </a:r>
            <a:endParaRPr sz="1800">
              <a:latin typeface="Calibri Light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8083" y="1680717"/>
            <a:ext cx="1168717" cy="59063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324861" y="3585794"/>
            <a:ext cx="5043805" cy="3651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10" dirty="0">
                <a:solidFill>
                  <a:srgbClr val="E4DFDF"/>
                </a:solidFill>
                <a:latin typeface="Calibri Light"/>
                <a:cs typeface="Calibri Light"/>
              </a:rPr>
              <a:t>Label</a:t>
            </a:r>
            <a:r>
              <a:rPr sz="2150" spc="-8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150" spc="-10" dirty="0">
                <a:solidFill>
                  <a:srgbClr val="E4DFDF"/>
                </a:solidFill>
                <a:latin typeface="Calibri Light"/>
                <a:cs typeface="Calibri Light"/>
              </a:rPr>
              <a:t>Encoding</a:t>
            </a:r>
            <a:endParaRPr sz="215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Encode</a:t>
            </a:r>
            <a:r>
              <a:rPr sz="180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E4DFDF"/>
                </a:solidFill>
                <a:latin typeface="Calibri Light"/>
                <a:cs typeface="Calibri Light"/>
              </a:rPr>
              <a:t>targets:</a:t>
            </a:r>
            <a:r>
              <a:rPr sz="180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0</a:t>
            </a:r>
            <a:r>
              <a:rPr sz="1800" spc="-3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for</a:t>
            </a:r>
            <a:r>
              <a:rPr sz="1800" spc="-3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humans,</a:t>
            </a:r>
            <a:r>
              <a:rPr sz="180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1</a:t>
            </a:r>
            <a:r>
              <a:rPr sz="180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for</a:t>
            </a:r>
            <a:r>
              <a:rPr sz="1800" spc="-3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E4DFDF"/>
                </a:solidFill>
                <a:latin typeface="Calibri Light"/>
                <a:cs typeface="Calibri Light"/>
              </a:rPr>
              <a:t>bots.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2150" spc="-45" dirty="0">
                <a:solidFill>
                  <a:srgbClr val="E4DFDF"/>
                </a:solidFill>
                <a:latin typeface="Calibri Light"/>
                <a:cs typeface="Calibri Light"/>
              </a:rPr>
              <a:t>Twitter-</a:t>
            </a:r>
            <a:r>
              <a:rPr sz="2150" spc="-20" dirty="0">
                <a:solidFill>
                  <a:srgbClr val="E4DFDF"/>
                </a:solidFill>
                <a:latin typeface="Calibri Light"/>
                <a:cs typeface="Calibri Light"/>
              </a:rPr>
              <a:t>Specific</a:t>
            </a:r>
            <a:r>
              <a:rPr sz="2150" spc="1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150" spc="-10" dirty="0">
                <a:solidFill>
                  <a:srgbClr val="E4DFDF"/>
                </a:solidFill>
                <a:latin typeface="Calibri Light"/>
                <a:cs typeface="Calibri Light"/>
              </a:rPr>
              <a:t>Cleaning</a:t>
            </a:r>
            <a:endParaRPr sz="215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Remove</a:t>
            </a:r>
            <a:r>
              <a:rPr sz="1800" spc="-7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links,</a:t>
            </a:r>
            <a:r>
              <a:rPr sz="180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mentions,</a:t>
            </a:r>
            <a:r>
              <a:rPr sz="180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and</a:t>
            </a:r>
            <a:r>
              <a:rPr sz="180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punctuation</a:t>
            </a:r>
            <a:r>
              <a:rPr sz="180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from</a:t>
            </a:r>
            <a:r>
              <a:rPr sz="1800" spc="-7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E4DFDF"/>
                </a:solidFill>
                <a:latin typeface="Calibri Light"/>
                <a:cs typeface="Calibri Light"/>
              </a:rPr>
              <a:t>tweets.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2150" spc="-55" dirty="0">
                <a:solidFill>
                  <a:srgbClr val="E4DFDF"/>
                </a:solidFill>
                <a:latin typeface="Calibri Light"/>
                <a:cs typeface="Calibri Light"/>
              </a:rPr>
              <a:t>Train-</a:t>
            </a:r>
            <a:r>
              <a:rPr sz="2150" spc="-85" dirty="0">
                <a:solidFill>
                  <a:srgbClr val="E4DFDF"/>
                </a:solidFill>
                <a:latin typeface="Calibri Light"/>
                <a:cs typeface="Calibri Light"/>
              </a:rPr>
              <a:t>Test</a:t>
            </a:r>
            <a:r>
              <a:rPr sz="2150" spc="2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150" spc="-20" dirty="0">
                <a:solidFill>
                  <a:srgbClr val="E4DFDF"/>
                </a:solidFill>
                <a:latin typeface="Calibri Light"/>
                <a:cs typeface="Calibri Light"/>
              </a:rPr>
              <a:t>Split</a:t>
            </a:r>
            <a:endParaRPr sz="215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80/20</a:t>
            </a:r>
            <a:r>
              <a:rPr sz="1800" spc="-3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E4DFDF"/>
                </a:solidFill>
                <a:latin typeface="Calibri Light"/>
                <a:cs typeface="Calibri Light"/>
              </a:rPr>
              <a:t>stratified</a:t>
            </a:r>
            <a:r>
              <a:rPr sz="1800" spc="-3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split</a:t>
            </a:r>
            <a:r>
              <a:rPr sz="180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ensures</a:t>
            </a:r>
            <a:r>
              <a:rPr sz="1800" spc="-3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E4DFDF"/>
                </a:solidFill>
                <a:latin typeface="Calibri Light"/>
                <a:cs typeface="Calibri Light"/>
              </a:rPr>
              <a:t>balanced</a:t>
            </a:r>
            <a:r>
              <a:rPr sz="180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00" spc="-10" dirty="0">
                <a:solidFill>
                  <a:srgbClr val="E4DFDF"/>
                </a:solidFill>
                <a:latin typeface="Calibri Light"/>
                <a:cs typeface="Calibri Light"/>
              </a:rPr>
              <a:t>evaluation.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9921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25195" y="4055490"/>
            <a:ext cx="44532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5" dirty="0">
                <a:solidFill>
                  <a:srgbClr val="FFFFFF"/>
                </a:solidFill>
                <a:latin typeface="Calibri Light"/>
                <a:cs typeface="Calibri Light"/>
              </a:rPr>
              <a:t>Feature</a:t>
            </a:r>
            <a:r>
              <a:rPr sz="4400" spc="-18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spc="-30" dirty="0">
                <a:solidFill>
                  <a:srgbClr val="FFFFFF"/>
                </a:solidFill>
                <a:latin typeface="Calibri Light"/>
                <a:cs typeface="Calibri Light"/>
              </a:rPr>
              <a:t>Engineering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730" y="5207012"/>
            <a:ext cx="598411" cy="59841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62810" y="5283453"/>
            <a:ext cx="3175635" cy="1800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30" dirty="0">
                <a:solidFill>
                  <a:srgbClr val="E4DFDF"/>
                </a:solidFill>
                <a:latin typeface="Calibri Light"/>
                <a:cs typeface="Calibri Light"/>
              </a:rPr>
              <a:t>Instagram</a:t>
            </a:r>
            <a:r>
              <a:rPr sz="220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200" spc="-10" dirty="0">
                <a:solidFill>
                  <a:srgbClr val="E4DFDF"/>
                </a:solidFill>
                <a:latin typeface="Calibri Light"/>
                <a:cs typeface="Calibri Light"/>
              </a:rPr>
              <a:t>Features</a:t>
            </a:r>
            <a:endParaRPr sz="2200">
              <a:latin typeface="Calibri Light"/>
              <a:cs typeface="Calibri Light"/>
            </a:endParaRPr>
          </a:p>
          <a:p>
            <a:pPr marL="355600" indent="-342900">
              <a:lnSpc>
                <a:spcPct val="100000"/>
              </a:lnSpc>
              <a:spcBef>
                <a:spcPts val="1770"/>
              </a:spcBef>
              <a:buChar char="•"/>
              <a:tabLst>
                <a:tab pos="355600" algn="l"/>
              </a:tabLst>
            </a:pPr>
            <a:r>
              <a:rPr sz="1850" spc="-20" dirty="0">
                <a:solidFill>
                  <a:srgbClr val="E4DFDF"/>
                </a:solidFill>
                <a:latin typeface="Calibri Light"/>
                <a:cs typeface="Calibri Light"/>
              </a:rPr>
              <a:t>Follower-to-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following</a:t>
            </a:r>
            <a:r>
              <a:rPr sz="1850" spc="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20" dirty="0">
                <a:solidFill>
                  <a:srgbClr val="E4DFDF"/>
                </a:solidFill>
                <a:latin typeface="Calibri Light"/>
                <a:cs typeface="Calibri Light"/>
              </a:rPr>
              <a:t>ratio</a:t>
            </a:r>
            <a:endParaRPr sz="1850">
              <a:latin typeface="Calibri Light"/>
              <a:cs typeface="Calibri Light"/>
            </a:endParaRPr>
          </a:p>
          <a:p>
            <a:pPr marL="355600" indent="-342900">
              <a:lnSpc>
                <a:spcPct val="100000"/>
              </a:lnSpc>
              <a:spcBef>
                <a:spcPts val="1455"/>
              </a:spcBef>
              <a:buChar char="•"/>
              <a:tabLst>
                <a:tab pos="355600" algn="l"/>
              </a:tabLst>
            </a:pP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Post</a:t>
            </a:r>
            <a:r>
              <a:rPr sz="1850" spc="-7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frequency</a:t>
            </a:r>
            <a:r>
              <a:rPr sz="185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and</a:t>
            </a:r>
            <a:r>
              <a:rPr sz="185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bio</a:t>
            </a:r>
            <a:r>
              <a:rPr sz="185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length</a:t>
            </a:r>
            <a:endParaRPr sz="1850">
              <a:latin typeface="Calibri Light"/>
              <a:cs typeface="Calibri Light"/>
            </a:endParaRPr>
          </a:p>
          <a:p>
            <a:pPr marL="355600" indent="-342900">
              <a:lnSpc>
                <a:spcPct val="100000"/>
              </a:lnSpc>
              <a:spcBef>
                <a:spcPts val="1455"/>
              </a:spcBef>
              <a:buChar char="•"/>
              <a:tabLst>
                <a:tab pos="355600" algn="l"/>
              </a:tabLst>
            </a:pP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Media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counts</a:t>
            </a:r>
            <a:r>
              <a:rPr sz="185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per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20" dirty="0">
                <a:solidFill>
                  <a:srgbClr val="E4DFDF"/>
                </a:solidFill>
                <a:latin typeface="Calibri Light"/>
                <a:cs typeface="Calibri Light"/>
              </a:rPr>
              <a:t>user</a:t>
            </a:r>
            <a:endParaRPr sz="1850">
              <a:latin typeface="Calibri Light"/>
              <a:cs typeface="Calibri Ligh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64679" y="5207012"/>
            <a:ext cx="598411" cy="59841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290686" y="5283453"/>
            <a:ext cx="3444875" cy="1800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40" dirty="0">
                <a:solidFill>
                  <a:srgbClr val="E4DFDF"/>
                </a:solidFill>
                <a:latin typeface="Calibri Light"/>
                <a:cs typeface="Calibri Light"/>
              </a:rPr>
              <a:t>Twitter</a:t>
            </a:r>
            <a:r>
              <a:rPr sz="220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200" spc="-10" dirty="0">
                <a:solidFill>
                  <a:srgbClr val="E4DFDF"/>
                </a:solidFill>
                <a:latin typeface="Calibri Light"/>
                <a:cs typeface="Calibri Light"/>
              </a:rPr>
              <a:t>Features</a:t>
            </a:r>
            <a:endParaRPr sz="2200">
              <a:latin typeface="Calibri Light"/>
              <a:cs typeface="Calibri Light"/>
            </a:endParaRPr>
          </a:p>
          <a:p>
            <a:pPr marL="354965" indent="-342265">
              <a:lnSpc>
                <a:spcPct val="100000"/>
              </a:lnSpc>
              <a:spcBef>
                <a:spcPts val="1770"/>
              </a:spcBef>
              <a:buChar char="•"/>
              <a:tabLst>
                <a:tab pos="354965" algn="l"/>
              </a:tabLst>
            </a:pP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Retweet</a:t>
            </a:r>
            <a:r>
              <a:rPr sz="1850" spc="-7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and</a:t>
            </a:r>
            <a:r>
              <a:rPr sz="185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reply</a:t>
            </a:r>
            <a:r>
              <a:rPr sz="1850" spc="-7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ratios</a:t>
            </a:r>
            <a:endParaRPr sz="1850">
              <a:latin typeface="Calibri Light"/>
              <a:cs typeface="Calibri Light"/>
            </a:endParaRPr>
          </a:p>
          <a:p>
            <a:pPr marL="354965" indent="-342265">
              <a:lnSpc>
                <a:spcPct val="100000"/>
              </a:lnSpc>
              <a:spcBef>
                <a:spcPts val="1455"/>
              </a:spcBef>
              <a:buChar char="•"/>
              <a:tabLst>
                <a:tab pos="354965" algn="l"/>
              </a:tabLst>
            </a:pP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Hashtag</a:t>
            </a:r>
            <a:r>
              <a:rPr sz="185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and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URL</a:t>
            </a:r>
            <a:r>
              <a:rPr sz="185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mentions</a:t>
            </a:r>
            <a:endParaRPr sz="1850">
              <a:latin typeface="Calibri Light"/>
              <a:cs typeface="Calibri Light"/>
            </a:endParaRPr>
          </a:p>
          <a:p>
            <a:pPr marL="354965" indent="-342265">
              <a:lnSpc>
                <a:spcPct val="100000"/>
              </a:lnSpc>
              <a:spcBef>
                <a:spcPts val="1455"/>
              </a:spcBef>
              <a:buChar char="•"/>
              <a:tabLst>
                <a:tab pos="354965" algn="l"/>
              </a:tabLst>
            </a:pP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Average</a:t>
            </a:r>
            <a:r>
              <a:rPr sz="185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tweet</a:t>
            </a:r>
            <a:r>
              <a:rPr sz="185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timing</a:t>
            </a:r>
            <a:r>
              <a:rPr sz="185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(intertime)</a:t>
            </a:r>
            <a:endParaRPr sz="1850">
              <a:latin typeface="Calibri Light"/>
              <a:cs typeface="Calibri Ligh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1A68CA-76AC-B408-18CC-841E71CD7F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29398" y="7620000"/>
            <a:ext cx="2670704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9921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5195" y="3640582"/>
            <a:ext cx="67608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TF-</a:t>
            </a:r>
            <a:r>
              <a:rPr dirty="0"/>
              <a:t>IDF:</a:t>
            </a:r>
            <a:r>
              <a:rPr spc="-180" dirty="0"/>
              <a:t> </a:t>
            </a:r>
            <a:r>
              <a:rPr spc="-125" dirty="0"/>
              <a:t>Text </a:t>
            </a:r>
            <a:r>
              <a:rPr spc="-45" dirty="0"/>
              <a:t>Feature</a:t>
            </a:r>
            <a:r>
              <a:rPr spc="-170" dirty="0"/>
              <a:t> </a:t>
            </a:r>
            <a:r>
              <a:rPr spc="-20" dirty="0"/>
              <a:t>Extraction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33920" y="4746752"/>
            <a:ext cx="546735" cy="546735"/>
            <a:chOff x="833920" y="4746752"/>
            <a:chExt cx="546735" cy="546735"/>
          </a:xfrm>
        </p:grpSpPr>
        <p:sp>
          <p:nvSpPr>
            <p:cNvPr id="5" name="object 5"/>
            <p:cNvSpPr/>
            <p:nvPr/>
          </p:nvSpPr>
          <p:spPr>
            <a:xfrm>
              <a:off x="837730" y="4750562"/>
              <a:ext cx="539115" cy="539115"/>
            </a:xfrm>
            <a:custGeom>
              <a:avLst/>
              <a:gdLst/>
              <a:ahLst/>
              <a:cxnLst/>
              <a:rect l="l" t="t" r="r" b="b"/>
              <a:pathLst>
                <a:path w="539115" h="539114">
                  <a:moveTo>
                    <a:pt x="437984" y="0"/>
                  </a:moveTo>
                  <a:lnTo>
                    <a:pt x="100533" y="0"/>
                  </a:lnTo>
                  <a:lnTo>
                    <a:pt x="61400" y="7911"/>
                  </a:lnTo>
                  <a:lnTo>
                    <a:pt x="29444" y="29479"/>
                  </a:lnTo>
                  <a:lnTo>
                    <a:pt x="7900" y="61454"/>
                  </a:lnTo>
                  <a:lnTo>
                    <a:pt x="0" y="100584"/>
                  </a:lnTo>
                  <a:lnTo>
                    <a:pt x="0" y="438023"/>
                  </a:lnTo>
                  <a:lnTo>
                    <a:pt x="7900" y="477152"/>
                  </a:lnTo>
                  <a:lnTo>
                    <a:pt x="29444" y="509127"/>
                  </a:lnTo>
                  <a:lnTo>
                    <a:pt x="61400" y="530695"/>
                  </a:lnTo>
                  <a:lnTo>
                    <a:pt x="100533" y="538607"/>
                  </a:lnTo>
                  <a:lnTo>
                    <a:pt x="437984" y="538607"/>
                  </a:lnTo>
                  <a:lnTo>
                    <a:pt x="477114" y="530695"/>
                  </a:lnTo>
                  <a:lnTo>
                    <a:pt x="509089" y="509127"/>
                  </a:lnTo>
                  <a:lnTo>
                    <a:pt x="530657" y="477152"/>
                  </a:lnTo>
                  <a:lnTo>
                    <a:pt x="538568" y="438023"/>
                  </a:lnTo>
                  <a:lnTo>
                    <a:pt x="538568" y="100584"/>
                  </a:lnTo>
                  <a:lnTo>
                    <a:pt x="530657" y="61454"/>
                  </a:lnTo>
                  <a:lnTo>
                    <a:pt x="509089" y="29479"/>
                  </a:lnTo>
                  <a:lnTo>
                    <a:pt x="477114" y="7911"/>
                  </a:lnTo>
                  <a:lnTo>
                    <a:pt x="437984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7730" y="4750562"/>
              <a:ext cx="539115" cy="539115"/>
            </a:xfrm>
            <a:custGeom>
              <a:avLst/>
              <a:gdLst/>
              <a:ahLst/>
              <a:cxnLst/>
              <a:rect l="l" t="t" r="r" b="b"/>
              <a:pathLst>
                <a:path w="539115" h="539114">
                  <a:moveTo>
                    <a:pt x="0" y="100584"/>
                  </a:moveTo>
                  <a:lnTo>
                    <a:pt x="7900" y="61454"/>
                  </a:lnTo>
                  <a:lnTo>
                    <a:pt x="29444" y="29479"/>
                  </a:lnTo>
                  <a:lnTo>
                    <a:pt x="61400" y="7911"/>
                  </a:lnTo>
                  <a:lnTo>
                    <a:pt x="100533" y="0"/>
                  </a:lnTo>
                  <a:lnTo>
                    <a:pt x="437984" y="0"/>
                  </a:lnTo>
                  <a:lnTo>
                    <a:pt x="477114" y="7911"/>
                  </a:lnTo>
                  <a:lnTo>
                    <a:pt x="509089" y="29479"/>
                  </a:lnTo>
                  <a:lnTo>
                    <a:pt x="530657" y="61454"/>
                  </a:lnTo>
                  <a:lnTo>
                    <a:pt x="538568" y="100584"/>
                  </a:lnTo>
                  <a:lnTo>
                    <a:pt x="538568" y="438023"/>
                  </a:lnTo>
                  <a:lnTo>
                    <a:pt x="530657" y="477152"/>
                  </a:lnTo>
                  <a:lnTo>
                    <a:pt x="509089" y="509127"/>
                  </a:lnTo>
                  <a:lnTo>
                    <a:pt x="477114" y="530695"/>
                  </a:lnTo>
                  <a:lnTo>
                    <a:pt x="437984" y="538607"/>
                  </a:lnTo>
                  <a:lnTo>
                    <a:pt x="100533" y="538607"/>
                  </a:lnTo>
                  <a:lnTo>
                    <a:pt x="61400" y="530695"/>
                  </a:lnTo>
                  <a:lnTo>
                    <a:pt x="29444" y="509127"/>
                  </a:lnTo>
                  <a:lnTo>
                    <a:pt x="7900" y="477152"/>
                  </a:lnTo>
                  <a:lnTo>
                    <a:pt x="0" y="438023"/>
                  </a:lnTo>
                  <a:lnTo>
                    <a:pt x="0" y="100584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460995" y="4746752"/>
            <a:ext cx="546735" cy="546735"/>
            <a:chOff x="7460995" y="4746752"/>
            <a:chExt cx="546735" cy="546735"/>
          </a:xfrm>
        </p:grpSpPr>
        <p:sp>
          <p:nvSpPr>
            <p:cNvPr id="8" name="object 8"/>
            <p:cNvSpPr/>
            <p:nvPr/>
          </p:nvSpPr>
          <p:spPr>
            <a:xfrm>
              <a:off x="7464805" y="4750562"/>
              <a:ext cx="539115" cy="539115"/>
            </a:xfrm>
            <a:custGeom>
              <a:avLst/>
              <a:gdLst/>
              <a:ahLst/>
              <a:cxnLst/>
              <a:rect l="l" t="t" r="r" b="b"/>
              <a:pathLst>
                <a:path w="539115" h="539114">
                  <a:moveTo>
                    <a:pt x="438023" y="0"/>
                  </a:moveTo>
                  <a:lnTo>
                    <a:pt x="100584" y="0"/>
                  </a:lnTo>
                  <a:lnTo>
                    <a:pt x="61454" y="7911"/>
                  </a:lnTo>
                  <a:lnTo>
                    <a:pt x="29479" y="29479"/>
                  </a:lnTo>
                  <a:lnTo>
                    <a:pt x="7911" y="61454"/>
                  </a:lnTo>
                  <a:lnTo>
                    <a:pt x="0" y="100584"/>
                  </a:lnTo>
                  <a:lnTo>
                    <a:pt x="0" y="438023"/>
                  </a:lnTo>
                  <a:lnTo>
                    <a:pt x="7911" y="477152"/>
                  </a:lnTo>
                  <a:lnTo>
                    <a:pt x="29479" y="509127"/>
                  </a:lnTo>
                  <a:lnTo>
                    <a:pt x="61454" y="530695"/>
                  </a:lnTo>
                  <a:lnTo>
                    <a:pt x="100584" y="538607"/>
                  </a:lnTo>
                  <a:lnTo>
                    <a:pt x="438023" y="538607"/>
                  </a:lnTo>
                  <a:lnTo>
                    <a:pt x="477152" y="530695"/>
                  </a:lnTo>
                  <a:lnTo>
                    <a:pt x="509127" y="509127"/>
                  </a:lnTo>
                  <a:lnTo>
                    <a:pt x="530695" y="477152"/>
                  </a:lnTo>
                  <a:lnTo>
                    <a:pt x="538607" y="438023"/>
                  </a:lnTo>
                  <a:lnTo>
                    <a:pt x="538607" y="100584"/>
                  </a:lnTo>
                  <a:lnTo>
                    <a:pt x="530695" y="61454"/>
                  </a:lnTo>
                  <a:lnTo>
                    <a:pt x="509127" y="29479"/>
                  </a:lnTo>
                  <a:lnTo>
                    <a:pt x="477152" y="7911"/>
                  </a:lnTo>
                  <a:lnTo>
                    <a:pt x="438023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64805" y="4750562"/>
              <a:ext cx="539115" cy="539115"/>
            </a:xfrm>
            <a:custGeom>
              <a:avLst/>
              <a:gdLst/>
              <a:ahLst/>
              <a:cxnLst/>
              <a:rect l="l" t="t" r="r" b="b"/>
              <a:pathLst>
                <a:path w="539115" h="539114">
                  <a:moveTo>
                    <a:pt x="0" y="100584"/>
                  </a:moveTo>
                  <a:lnTo>
                    <a:pt x="7911" y="61454"/>
                  </a:lnTo>
                  <a:lnTo>
                    <a:pt x="29479" y="29479"/>
                  </a:lnTo>
                  <a:lnTo>
                    <a:pt x="61454" y="7911"/>
                  </a:lnTo>
                  <a:lnTo>
                    <a:pt x="100584" y="0"/>
                  </a:lnTo>
                  <a:lnTo>
                    <a:pt x="438023" y="0"/>
                  </a:lnTo>
                  <a:lnTo>
                    <a:pt x="477152" y="7911"/>
                  </a:lnTo>
                  <a:lnTo>
                    <a:pt x="509127" y="29479"/>
                  </a:lnTo>
                  <a:lnTo>
                    <a:pt x="530695" y="61454"/>
                  </a:lnTo>
                  <a:lnTo>
                    <a:pt x="538607" y="100584"/>
                  </a:lnTo>
                  <a:lnTo>
                    <a:pt x="538607" y="438023"/>
                  </a:lnTo>
                  <a:lnTo>
                    <a:pt x="530695" y="477152"/>
                  </a:lnTo>
                  <a:lnTo>
                    <a:pt x="509127" y="509127"/>
                  </a:lnTo>
                  <a:lnTo>
                    <a:pt x="477152" y="530695"/>
                  </a:lnTo>
                  <a:lnTo>
                    <a:pt x="438023" y="538607"/>
                  </a:lnTo>
                  <a:lnTo>
                    <a:pt x="100584" y="538607"/>
                  </a:lnTo>
                  <a:lnTo>
                    <a:pt x="61454" y="530695"/>
                  </a:lnTo>
                  <a:lnTo>
                    <a:pt x="29479" y="509127"/>
                  </a:lnTo>
                  <a:lnTo>
                    <a:pt x="7911" y="477152"/>
                  </a:lnTo>
                  <a:lnTo>
                    <a:pt x="0" y="438023"/>
                  </a:lnTo>
                  <a:lnTo>
                    <a:pt x="0" y="100584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230869" y="4808982"/>
            <a:ext cx="4008120" cy="866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E4DFDF"/>
                </a:solidFill>
                <a:latin typeface="Calibri Light"/>
                <a:cs typeface="Calibri Light"/>
              </a:rPr>
              <a:t>IDF</a:t>
            </a:r>
            <a:r>
              <a:rPr sz="2200" spc="-7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200" spc="-30" dirty="0">
                <a:solidFill>
                  <a:srgbClr val="E4DFDF"/>
                </a:solidFill>
                <a:latin typeface="Calibri Light"/>
                <a:cs typeface="Calibri Light"/>
              </a:rPr>
              <a:t>(Inverse</a:t>
            </a:r>
            <a:r>
              <a:rPr sz="2200" spc="-8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200" spc="-25" dirty="0">
                <a:solidFill>
                  <a:srgbClr val="E4DFDF"/>
                </a:solidFill>
                <a:latin typeface="Calibri Light"/>
                <a:cs typeface="Calibri Light"/>
              </a:rPr>
              <a:t>Document</a:t>
            </a:r>
            <a:r>
              <a:rPr sz="2200" spc="-7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200" spc="-10" dirty="0">
                <a:solidFill>
                  <a:srgbClr val="E4DFDF"/>
                </a:solidFill>
                <a:latin typeface="Calibri Light"/>
                <a:cs typeface="Calibri Light"/>
              </a:rPr>
              <a:t>Frequency)</a:t>
            </a:r>
            <a:endParaRPr sz="2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Downweights</a:t>
            </a:r>
            <a:r>
              <a:rPr sz="185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common</a:t>
            </a:r>
            <a:r>
              <a:rPr sz="185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words</a:t>
            </a:r>
            <a:r>
              <a:rPr sz="185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across</a:t>
            </a:r>
            <a:r>
              <a:rPr sz="185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users</a:t>
            </a:r>
            <a:endParaRPr sz="1850">
              <a:latin typeface="Calibri Light"/>
              <a:cs typeface="Calibri Ligh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33920" y="6186423"/>
            <a:ext cx="546735" cy="546100"/>
            <a:chOff x="833920" y="6186423"/>
            <a:chExt cx="546735" cy="546100"/>
          </a:xfrm>
        </p:grpSpPr>
        <p:sp>
          <p:nvSpPr>
            <p:cNvPr id="12" name="object 12"/>
            <p:cNvSpPr/>
            <p:nvPr/>
          </p:nvSpPr>
          <p:spPr>
            <a:xfrm>
              <a:off x="837730" y="6190233"/>
              <a:ext cx="539115" cy="538480"/>
            </a:xfrm>
            <a:custGeom>
              <a:avLst/>
              <a:gdLst/>
              <a:ahLst/>
              <a:cxnLst/>
              <a:rect l="l" t="t" r="r" b="b"/>
              <a:pathLst>
                <a:path w="539115" h="538479">
                  <a:moveTo>
                    <a:pt x="437984" y="0"/>
                  </a:moveTo>
                  <a:lnTo>
                    <a:pt x="100533" y="0"/>
                  </a:lnTo>
                  <a:lnTo>
                    <a:pt x="61400" y="7891"/>
                  </a:lnTo>
                  <a:lnTo>
                    <a:pt x="29444" y="29416"/>
                  </a:lnTo>
                  <a:lnTo>
                    <a:pt x="7900" y="61346"/>
                  </a:lnTo>
                  <a:lnTo>
                    <a:pt x="0" y="100457"/>
                  </a:lnTo>
                  <a:lnTo>
                    <a:pt x="0" y="437896"/>
                  </a:lnTo>
                  <a:lnTo>
                    <a:pt x="7900" y="477025"/>
                  </a:lnTo>
                  <a:lnTo>
                    <a:pt x="29444" y="509000"/>
                  </a:lnTo>
                  <a:lnTo>
                    <a:pt x="61400" y="530568"/>
                  </a:lnTo>
                  <a:lnTo>
                    <a:pt x="100533" y="538480"/>
                  </a:lnTo>
                  <a:lnTo>
                    <a:pt x="437984" y="538480"/>
                  </a:lnTo>
                  <a:lnTo>
                    <a:pt x="477114" y="530568"/>
                  </a:lnTo>
                  <a:lnTo>
                    <a:pt x="509089" y="509000"/>
                  </a:lnTo>
                  <a:lnTo>
                    <a:pt x="530657" y="477025"/>
                  </a:lnTo>
                  <a:lnTo>
                    <a:pt x="538568" y="437896"/>
                  </a:lnTo>
                  <a:lnTo>
                    <a:pt x="538568" y="100457"/>
                  </a:lnTo>
                  <a:lnTo>
                    <a:pt x="530657" y="61346"/>
                  </a:lnTo>
                  <a:lnTo>
                    <a:pt x="509089" y="29416"/>
                  </a:lnTo>
                  <a:lnTo>
                    <a:pt x="477114" y="7891"/>
                  </a:lnTo>
                  <a:lnTo>
                    <a:pt x="437984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7730" y="6190233"/>
              <a:ext cx="539115" cy="538480"/>
            </a:xfrm>
            <a:custGeom>
              <a:avLst/>
              <a:gdLst/>
              <a:ahLst/>
              <a:cxnLst/>
              <a:rect l="l" t="t" r="r" b="b"/>
              <a:pathLst>
                <a:path w="539115" h="538479">
                  <a:moveTo>
                    <a:pt x="0" y="100457"/>
                  </a:moveTo>
                  <a:lnTo>
                    <a:pt x="7900" y="61346"/>
                  </a:lnTo>
                  <a:lnTo>
                    <a:pt x="29444" y="29416"/>
                  </a:lnTo>
                  <a:lnTo>
                    <a:pt x="61400" y="7891"/>
                  </a:lnTo>
                  <a:lnTo>
                    <a:pt x="100533" y="0"/>
                  </a:lnTo>
                  <a:lnTo>
                    <a:pt x="437984" y="0"/>
                  </a:lnTo>
                  <a:lnTo>
                    <a:pt x="477114" y="7891"/>
                  </a:lnTo>
                  <a:lnTo>
                    <a:pt x="509089" y="29416"/>
                  </a:lnTo>
                  <a:lnTo>
                    <a:pt x="530657" y="61346"/>
                  </a:lnTo>
                  <a:lnTo>
                    <a:pt x="538568" y="100457"/>
                  </a:lnTo>
                  <a:lnTo>
                    <a:pt x="538568" y="437896"/>
                  </a:lnTo>
                  <a:lnTo>
                    <a:pt x="530657" y="477025"/>
                  </a:lnTo>
                  <a:lnTo>
                    <a:pt x="509089" y="509000"/>
                  </a:lnTo>
                  <a:lnTo>
                    <a:pt x="477114" y="530568"/>
                  </a:lnTo>
                  <a:lnTo>
                    <a:pt x="437984" y="538480"/>
                  </a:lnTo>
                  <a:lnTo>
                    <a:pt x="100533" y="538480"/>
                  </a:lnTo>
                  <a:lnTo>
                    <a:pt x="61400" y="530568"/>
                  </a:lnTo>
                  <a:lnTo>
                    <a:pt x="29444" y="509000"/>
                  </a:lnTo>
                  <a:lnTo>
                    <a:pt x="7900" y="477025"/>
                  </a:lnTo>
                  <a:lnTo>
                    <a:pt x="0" y="437896"/>
                  </a:lnTo>
                  <a:lnTo>
                    <a:pt x="0" y="100457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602994" y="4808982"/>
            <a:ext cx="4069079" cy="2306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E4DFDF"/>
                </a:solidFill>
                <a:latin typeface="Calibri Light"/>
                <a:cs typeface="Calibri Light"/>
              </a:rPr>
              <a:t>TF</a:t>
            </a:r>
            <a:r>
              <a:rPr sz="220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200" spc="-60" dirty="0">
                <a:solidFill>
                  <a:srgbClr val="E4DFDF"/>
                </a:solidFill>
                <a:latin typeface="Calibri Light"/>
                <a:cs typeface="Calibri Light"/>
              </a:rPr>
              <a:t>(Term</a:t>
            </a:r>
            <a:r>
              <a:rPr sz="220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200" spc="-10" dirty="0">
                <a:solidFill>
                  <a:srgbClr val="E4DFDF"/>
                </a:solidFill>
                <a:latin typeface="Calibri Light"/>
                <a:cs typeface="Calibri Light"/>
              </a:rPr>
              <a:t>Frequency)</a:t>
            </a:r>
            <a:endParaRPr sz="2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Counts</a:t>
            </a:r>
            <a:r>
              <a:rPr sz="185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word</a:t>
            </a:r>
            <a:r>
              <a:rPr sz="185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occurrence</a:t>
            </a:r>
            <a:r>
              <a:rPr sz="185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in</a:t>
            </a:r>
            <a:r>
              <a:rPr sz="1850" spc="-3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user</a:t>
            </a:r>
            <a:r>
              <a:rPr sz="185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tweets</a:t>
            </a:r>
            <a:endParaRPr sz="185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85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85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2200" spc="-20" dirty="0">
                <a:solidFill>
                  <a:srgbClr val="E4DFDF"/>
                </a:solidFill>
                <a:latin typeface="Calibri Light"/>
                <a:cs typeface="Calibri Light"/>
              </a:rPr>
              <a:t>TF-</a:t>
            </a:r>
            <a:r>
              <a:rPr sz="2200" spc="-10" dirty="0">
                <a:solidFill>
                  <a:srgbClr val="E4DFDF"/>
                </a:solidFill>
                <a:latin typeface="Calibri Light"/>
                <a:cs typeface="Calibri Light"/>
              </a:rPr>
              <a:t>IDF</a:t>
            </a:r>
            <a:r>
              <a:rPr sz="2200" spc="-9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200" spc="-10" dirty="0">
                <a:solidFill>
                  <a:srgbClr val="E4DFDF"/>
                </a:solidFill>
                <a:latin typeface="Calibri Light"/>
                <a:cs typeface="Calibri Light"/>
              </a:rPr>
              <a:t>Calculation</a:t>
            </a:r>
            <a:endParaRPr sz="2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Highlights</a:t>
            </a:r>
            <a:r>
              <a:rPr sz="185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words</a:t>
            </a:r>
            <a:r>
              <a:rPr sz="1850" spc="-7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unique</a:t>
            </a:r>
            <a:r>
              <a:rPr sz="185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to</a:t>
            </a:r>
            <a:r>
              <a:rPr sz="185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bots</a:t>
            </a:r>
            <a:r>
              <a:rPr sz="185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or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humans</a:t>
            </a:r>
            <a:endParaRPr sz="1850">
              <a:latin typeface="Calibri Light"/>
              <a:cs typeface="Calibri Ligh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460995" y="6186423"/>
            <a:ext cx="546735" cy="546100"/>
            <a:chOff x="7460995" y="6186423"/>
            <a:chExt cx="546735" cy="546100"/>
          </a:xfrm>
        </p:grpSpPr>
        <p:sp>
          <p:nvSpPr>
            <p:cNvPr id="16" name="object 16"/>
            <p:cNvSpPr/>
            <p:nvPr/>
          </p:nvSpPr>
          <p:spPr>
            <a:xfrm>
              <a:off x="7464805" y="6190233"/>
              <a:ext cx="539115" cy="538480"/>
            </a:xfrm>
            <a:custGeom>
              <a:avLst/>
              <a:gdLst/>
              <a:ahLst/>
              <a:cxnLst/>
              <a:rect l="l" t="t" r="r" b="b"/>
              <a:pathLst>
                <a:path w="539115" h="538479">
                  <a:moveTo>
                    <a:pt x="438023" y="0"/>
                  </a:moveTo>
                  <a:lnTo>
                    <a:pt x="100584" y="0"/>
                  </a:lnTo>
                  <a:lnTo>
                    <a:pt x="61454" y="7891"/>
                  </a:lnTo>
                  <a:lnTo>
                    <a:pt x="29479" y="29416"/>
                  </a:lnTo>
                  <a:lnTo>
                    <a:pt x="7911" y="61346"/>
                  </a:lnTo>
                  <a:lnTo>
                    <a:pt x="0" y="100457"/>
                  </a:lnTo>
                  <a:lnTo>
                    <a:pt x="0" y="437896"/>
                  </a:lnTo>
                  <a:lnTo>
                    <a:pt x="7911" y="477025"/>
                  </a:lnTo>
                  <a:lnTo>
                    <a:pt x="29479" y="509000"/>
                  </a:lnTo>
                  <a:lnTo>
                    <a:pt x="61454" y="530568"/>
                  </a:lnTo>
                  <a:lnTo>
                    <a:pt x="100584" y="538480"/>
                  </a:lnTo>
                  <a:lnTo>
                    <a:pt x="438023" y="538480"/>
                  </a:lnTo>
                  <a:lnTo>
                    <a:pt x="477152" y="530568"/>
                  </a:lnTo>
                  <a:lnTo>
                    <a:pt x="509127" y="509000"/>
                  </a:lnTo>
                  <a:lnTo>
                    <a:pt x="530695" y="477025"/>
                  </a:lnTo>
                  <a:lnTo>
                    <a:pt x="538607" y="437896"/>
                  </a:lnTo>
                  <a:lnTo>
                    <a:pt x="538607" y="100457"/>
                  </a:lnTo>
                  <a:lnTo>
                    <a:pt x="530695" y="61346"/>
                  </a:lnTo>
                  <a:lnTo>
                    <a:pt x="509127" y="29416"/>
                  </a:lnTo>
                  <a:lnTo>
                    <a:pt x="477152" y="7891"/>
                  </a:lnTo>
                  <a:lnTo>
                    <a:pt x="438023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64805" y="6190233"/>
              <a:ext cx="539115" cy="538480"/>
            </a:xfrm>
            <a:custGeom>
              <a:avLst/>
              <a:gdLst/>
              <a:ahLst/>
              <a:cxnLst/>
              <a:rect l="l" t="t" r="r" b="b"/>
              <a:pathLst>
                <a:path w="539115" h="538479">
                  <a:moveTo>
                    <a:pt x="0" y="100457"/>
                  </a:moveTo>
                  <a:lnTo>
                    <a:pt x="7911" y="61346"/>
                  </a:lnTo>
                  <a:lnTo>
                    <a:pt x="29479" y="29416"/>
                  </a:lnTo>
                  <a:lnTo>
                    <a:pt x="61454" y="7891"/>
                  </a:lnTo>
                  <a:lnTo>
                    <a:pt x="100584" y="0"/>
                  </a:lnTo>
                  <a:lnTo>
                    <a:pt x="438023" y="0"/>
                  </a:lnTo>
                  <a:lnTo>
                    <a:pt x="477152" y="7891"/>
                  </a:lnTo>
                  <a:lnTo>
                    <a:pt x="509127" y="29416"/>
                  </a:lnTo>
                  <a:lnTo>
                    <a:pt x="530695" y="61346"/>
                  </a:lnTo>
                  <a:lnTo>
                    <a:pt x="538607" y="100457"/>
                  </a:lnTo>
                  <a:lnTo>
                    <a:pt x="538607" y="437896"/>
                  </a:lnTo>
                  <a:lnTo>
                    <a:pt x="530695" y="477025"/>
                  </a:lnTo>
                  <a:lnTo>
                    <a:pt x="509127" y="509000"/>
                  </a:lnTo>
                  <a:lnTo>
                    <a:pt x="477152" y="530568"/>
                  </a:lnTo>
                  <a:lnTo>
                    <a:pt x="438023" y="538480"/>
                  </a:lnTo>
                  <a:lnTo>
                    <a:pt x="100584" y="538480"/>
                  </a:lnTo>
                  <a:lnTo>
                    <a:pt x="61454" y="530568"/>
                  </a:lnTo>
                  <a:lnTo>
                    <a:pt x="29479" y="509000"/>
                  </a:lnTo>
                  <a:lnTo>
                    <a:pt x="7911" y="477025"/>
                  </a:lnTo>
                  <a:lnTo>
                    <a:pt x="0" y="437896"/>
                  </a:lnTo>
                  <a:lnTo>
                    <a:pt x="0" y="100457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230869" y="6248780"/>
            <a:ext cx="12674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solidFill>
                  <a:srgbClr val="E4DFDF"/>
                </a:solidFill>
                <a:latin typeface="Calibri Light"/>
                <a:cs typeface="Calibri Light"/>
              </a:rPr>
              <a:t>Application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30869" y="6808419"/>
            <a:ext cx="499999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Captures</a:t>
            </a:r>
            <a:r>
              <a:rPr sz="185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spammy/repetitive</a:t>
            </a:r>
            <a:r>
              <a:rPr sz="185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bot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language</a:t>
            </a:r>
            <a:r>
              <a:rPr sz="185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on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Twitter</a:t>
            </a:r>
            <a:endParaRPr sz="1850">
              <a:latin typeface="Calibri Light"/>
              <a:cs typeface="Calibri Ligh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8355" y="7471960"/>
            <a:ext cx="3596893" cy="69348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1B52616-4494-FA69-0B34-D50CB15CF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934" y="7314718"/>
            <a:ext cx="4008168" cy="9148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8694" y="7742756"/>
            <a:ext cx="2146681" cy="41385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5195" y="1208913"/>
            <a:ext cx="57397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Random</a:t>
            </a:r>
            <a:r>
              <a:rPr b="1" spc="-13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Forest</a:t>
            </a:r>
            <a:r>
              <a:rPr b="1" spc="-11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Classifier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94533" y="2732023"/>
            <a:ext cx="22059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E4DFDF"/>
                </a:solidFill>
                <a:latin typeface="Calibri"/>
                <a:cs typeface="Calibri"/>
              </a:rPr>
              <a:t>Ensemble</a:t>
            </a:r>
            <a:r>
              <a:rPr sz="2200" b="1" spc="-114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E4DFDF"/>
                </a:solidFill>
                <a:latin typeface="Calibri"/>
                <a:cs typeface="Calibri"/>
              </a:rPr>
              <a:t>Learning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7343" y="3192221"/>
            <a:ext cx="3455670" cy="78740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880"/>
              </a:spcBef>
            </a:pPr>
            <a:r>
              <a:rPr sz="1850" dirty="0">
                <a:solidFill>
                  <a:srgbClr val="E4DFDF"/>
                </a:solidFill>
                <a:latin typeface="Calibri"/>
                <a:cs typeface="Calibri"/>
              </a:rPr>
              <a:t>Combines</a:t>
            </a:r>
            <a:r>
              <a:rPr sz="1850" spc="-45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"/>
                <a:cs typeface="Calibri"/>
              </a:rPr>
              <a:t>predictions</a:t>
            </a:r>
            <a:r>
              <a:rPr sz="1850" spc="-30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"/>
                <a:cs typeface="Calibri"/>
              </a:rPr>
              <a:t>from</a:t>
            </a:r>
            <a:r>
              <a:rPr sz="1850" spc="-65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"/>
                <a:cs typeface="Calibri"/>
              </a:rPr>
              <a:t>multiple</a:t>
            </a:r>
            <a:endParaRPr sz="185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780"/>
              </a:spcBef>
            </a:pPr>
            <a:r>
              <a:rPr sz="1850" dirty="0">
                <a:solidFill>
                  <a:srgbClr val="E4DFDF"/>
                </a:solidFill>
                <a:latin typeface="Calibri"/>
                <a:cs typeface="Calibri"/>
              </a:rPr>
              <a:t>decision</a:t>
            </a:r>
            <a:r>
              <a:rPr sz="1850" spc="-55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"/>
                <a:cs typeface="Calibri"/>
              </a:rPr>
              <a:t>trees.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8122" y="2439098"/>
            <a:ext cx="4534154" cy="453415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211315" y="3244672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E4DFDF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29621" y="2732023"/>
            <a:ext cx="19475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E4DFDF"/>
                </a:solidFill>
                <a:latin typeface="Calibri"/>
                <a:cs typeface="Calibri"/>
              </a:rPr>
              <a:t>Random</a:t>
            </a:r>
            <a:r>
              <a:rPr sz="2200" b="1" spc="-85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E4DFDF"/>
                </a:solidFill>
                <a:latin typeface="Calibri"/>
                <a:cs typeface="Calibri"/>
              </a:rPr>
              <a:t>Subsets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29621" y="3192221"/>
            <a:ext cx="326009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100"/>
              </a:spcBef>
            </a:pPr>
            <a:r>
              <a:rPr sz="1850" spc="-20" dirty="0">
                <a:solidFill>
                  <a:srgbClr val="E4DFDF"/>
                </a:solidFill>
                <a:latin typeface="Calibri"/>
                <a:cs typeface="Calibri"/>
              </a:rPr>
              <a:t>Trees</a:t>
            </a:r>
            <a:r>
              <a:rPr sz="1850" spc="-65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"/>
                <a:cs typeface="Calibri"/>
              </a:rPr>
              <a:t>trained</a:t>
            </a:r>
            <a:r>
              <a:rPr sz="1850" spc="-55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"/>
                <a:cs typeface="Calibri"/>
              </a:rPr>
              <a:t>on</a:t>
            </a:r>
            <a:r>
              <a:rPr sz="1850" spc="-60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"/>
                <a:cs typeface="Calibri"/>
              </a:rPr>
              <a:t>random</a:t>
            </a:r>
            <a:r>
              <a:rPr sz="1850" spc="-60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"/>
                <a:cs typeface="Calibri"/>
              </a:rPr>
              <a:t>data</a:t>
            </a:r>
            <a:r>
              <a:rPr sz="1850" spc="-60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E4DFDF"/>
                </a:solidFill>
                <a:latin typeface="Calibri"/>
                <a:cs typeface="Calibri"/>
              </a:rPr>
              <a:t>and </a:t>
            </a:r>
            <a:r>
              <a:rPr sz="1850" spc="-10" dirty="0">
                <a:solidFill>
                  <a:srgbClr val="E4DFDF"/>
                </a:solidFill>
                <a:latin typeface="Calibri"/>
                <a:cs typeface="Calibri"/>
              </a:rPr>
              <a:t>feature</a:t>
            </a:r>
            <a:r>
              <a:rPr sz="1850" spc="-50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"/>
                <a:cs typeface="Calibri"/>
              </a:rPr>
              <a:t>subsets.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8122" y="2439098"/>
            <a:ext cx="4534154" cy="453415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422640" y="3630929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E4DFDF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29621" y="5178933"/>
            <a:ext cx="18389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E4DFDF"/>
                </a:solidFill>
                <a:latin typeface="Calibri"/>
                <a:cs typeface="Calibri"/>
              </a:rPr>
              <a:t>Majority</a:t>
            </a:r>
            <a:r>
              <a:rPr sz="2200" b="1" spc="-55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E4DFDF"/>
                </a:solidFill>
                <a:latin typeface="Calibri"/>
                <a:cs typeface="Calibri"/>
              </a:rPr>
              <a:t>Voting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29621" y="5638629"/>
            <a:ext cx="3761104" cy="78867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850" dirty="0">
                <a:solidFill>
                  <a:srgbClr val="E4DFDF"/>
                </a:solidFill>
                <a:latin typeface="Calibri"/>
                <a:cs typeface="Calibri"/>
              </a:rPr>
              <a:t>Final</a:t>
            </a:r>
            <a:r>
              <a:rPr sz="1850" spc="-60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"/>
                <a:cs typeface="Calibri"/>
              </a:rPr>
              <a:t>prediction</a:t>
            </a:r>
            <a:r>
              <a:rPr sz="1850" spc="-30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"/>
                <a:cs typeface="Calibri"/>
              </a:rPr>
              <a:t>based</a:t>
            </a:r>
            <a:r>
              <a:rPr sz="1850" spc="-45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"/>
                <a:cs typeface="Calibri"/>
              </a:rPr>
              <a:t>on</a:t>
            </a:r>
            <a:r>
              <a:rPr sz="1850" spc="-55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"/>
                <a:cs typeface="Calibri"/>
              </a:rPr>
              <a:t>majority</a:t>
            </a:r>
            <a:r>
              <a:rPr sz="1850" spc="-60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E4DFDF"/>
                </a:solidFill>
                <a:latin typeface="Calibri"/>
                <a:cs typeface="Calibri"/>
              </a:rPr>
              <a:t>vote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850" dirty="0">
                <a:solidFill>
                  <a:srgbClr val="E4DFDF"/>
                </a:solidFill>
                <a:latin typeface="Calibri"/>
                <a:cs typeface="Calibri"/>
              </a:rPr>
              <a:t>of</a:t>
            </a:r>
            <a:r>
              <a:rPr sz="1850" spc="-30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"/>
                <a:cs typeface="Calibri"/>
              </a:rPr>
              <a:t>trees.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48122" y="2439098"/>
            <a:ext cx="4534154" cy="453415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036814" y="5842253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E4DFDF"/>
                </a:solidFill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25926" y="4987544"/>
            <a:ext cx="9753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E4DFDF"/>
                </a:solidFill>
                <a:latin typeface="Calibri"/>
                <a:cs typeface="Calibri"/>
              </a:rPr>
              <a:t>Benefits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65047" y="5447741"/>
            <a:ext cx="3535679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20040">
              <a:lnSpc>
                <a:spcPct val="135100"/>
              </a:lnSpc>
              <a:spcBef>
                <a:spcPts val="100"/>
              </a:spcBef>
            </a:pPr>
            <a:r>
              <a:rPr sz="1850" dirty="0">
                <a:solidFill>
                  <a:srgbClr val="E4DFDF"/>
                </a:solidFill>
                <a:latin typeface="Calibri"/>
                <a:cs typeface="Calibri"/>
              </a:rPr>
              <a:t>Reduces</a:t>
            </a:r>
            <a:r>
              <a:rPr sz="1850" spc="-50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"/>
                <a:cs typeface="Calibri"/>
              </a:rPr>
              <a:t>overfitting</a:t>
            </a:r>
            <a:r>
              <a:rPr sz="1850" spc="-50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"/>
                <a:cs typeface="Calibri"/>
              </a:rPr>
              <a:t>and</a:t>
            </a:r>
            <a:r>
              <a:rPr sz="1850" spc="-55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"/>
                <a:cs typeface="Calibri"/>
              </a:rPr>
              <a:t>improves generalization</a:t>
            </a:r>
            <a:r>
              <a:rPr sz="1850" spc="-30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"/>
                <a:cs typeface="Calibri"/>
              </a:rPr>
              <a:t>on</a:t>
            </a:r>
            <a:r>
              <a:rPr sz="1850" spc="-55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"/>
                <a:cs typeface="Calibri"/>
              </a:rPr>
              <a:t>metadata</a:t>
            </a:r>
            <a:r>
              <a:rPr sz="1850" spc="-55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"/>
                <a:cs typeface="Calibri"/>
              </a:rPr>
              <a:t>and</a:t>
            </a:r>
            <a:r>
              <a:rPr sz="1850" spc="-50" dirty="0">
                <a:solidFill>
                  <a:srgbClr val="E4DFDF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"/>
                <a:cs typeface="Calibri"/>
              </a:rPr>
              <a:t>text.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48122" y="2439098"/>
            <a:ext cx="4534154" cy="453415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5825744" y="5456301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E4DFDF"/>
                </a:solidFill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2B93485-CBE5-00EF-356B-A82E0390BE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29398" y="7620000"/>
            <a:ext cx="2670704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9921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25195" y="3934409"/>
            <a:ext cx="56108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How</a:t>
            </a:r>
            <a:r>
              <a:rPr sz="4400" spc="-2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spc="-30" dirty="0">
                <a:solidFill>
                  <a:srgbClr val="FFFFFF"/>
                </a:solidFill>
                <a:latin typeface="Calibri Light"/>
                <a:cs typeface="Calibri Light"/>
              </a:rPr>
              <a:t>Decision</a:t>
            </a:r>
            <a:r>
              <a:rPr sz="4400" spc="-20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spc="-85" dirty="0">
                <a:solidFill>
                  <a:srgbClr val="FFFFFF"/>
                </a:solidFill>
                <a:latin typeface="Calibri Light"/>
                <a:cs typeface="Calibri Light"/>
              </a:rPr>
              <a:t>Trees</a:t>
            </a:r>
            <a:r>
              <a:rPr sz="4400" spc="-1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spc="-25" dirty="0">
                <a:solidFill>
                  <a:srgbClr val="FFFFFF"/>
                </a:solidFill>
                <a:latin typeface="Calibri Light"/>
                <a:cs typeface="Calibri Light"/>
              </a:rPr>
              <a:t>Work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195" y="5260340"/>
            <a:ext cx="17621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FFFFFF"/>
                </a:solidFill>
                <a:latin typeface="Calibri Light"/>
                <a:cs typeface="Calibri Light"/>
              </a:rPr>
              <a:t>Node</a:t>
            </a:r>
            <a:r>
              <a:rPr sz="2200" spc="-1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 Light"/>
                <a:cs typeface="Calibri Light"/>
              </a:rPr>
              <a:t>Condition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195" y="5816295"/>
            <a:ext cx="265430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100"/>
              </a:spcBef>
            </a:pPr>
            <a:r>
              <a:rPr sz="1850" spc="-30" dirty="0">
                <a:solidFill>
                  <a:srgbClr val="E4DFDF"/>
                </a:solidFill>
                <a:latin typeface="Calibri Light"/>
                <a:cs typeface="Calibri Light"/>
              </a:rPr>
              <a:t>Tests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attributes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like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follower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ratio</a:t>
            </a:r>
            <a:r>
              <a:rPr sz="185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&gt;</a:t>
            </a:r>
            <a:r>
              <a:rPr sz="185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35" dirty="0">
                <a:solidFill>
                  <a:srgbClr val="E4DFDF"/>
                </a:solidFill>
                <a:latin typeface="Calibri Light"/>
                <a:cs typeface="Calibri Light"/>
              </a:rPr>
              <a:t>3?</a:t>
            </a:r>
            <a:endParaRPr sz="185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7670" y="5260340"/>
            <a:ext cx="14992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solidFill>
                  <a:srgbClr val="FFFFFF"/>
                </a:solidFill>
                <a:latin typeface="Calibri Light"/>
                <a:cs typeface="Calibri Light"/>
              </a:rPr>
              <a:t>Data</a:t>
            </a:r>
            <a:r>
              <a:rPr sz="2200" spc="-1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 Light"/>
                <a:cs typeface="Calibri Light"/>
              </a:rPr>
              <a:t>Splitting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17670" y="5816295"/>
            <a:ext cx="273812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100"/>
              </a:spcBef>
            </a:pP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Branches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data</a:t>
            </a:r>
            <a:r>
              <a:rPr sz="185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to</a:t>
            </a:r>
            <a:r>
              <a:rPr sz="185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child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nodes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based</a:t>
            </a:r>
            <a:r>
              <a:rPr sz="1850" spc="-3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on</a:t>
            </a:r>
            <a:r>
              <a:rPr sz="1850" spc="-3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condition</a:t>
            </a:r>
            <a:endParaRPr sz="185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10347" y="5260340"/>
            <a:ext cx="12541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FFFFFF"/>
                </a:solidFill>
                <a:latin typeface="Calibri Light"/>
                <a:cs typeface="Calibri Light"/>
              </a:rPr>
              <a:t>Leaf</a:t>
            </a:r>
            <a:r>
              <a:rPr sz="2200" spc="-9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 Light"/>
                <a:cs typeface="Calibri Light"/>
              </a:rPr>
              <a:t>Nodes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10347" y="5816295"/>
            <a:ext cx="232092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100"/>
              </a:spcBef>
            </a:pP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Assign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class</a:t>
            </a:r>
            <a:r>
              <a:rPr sz="1850" spc="-3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label:</a:t>
            </a:r>
            <a:r>
              <a:rPr sz="1850" spc="-2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Bot</a:t>
            </a:r>
            <a:r>
              <a:rPr sz="1850" spc="-3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25" dirty="0">
                <a:solidFill>
                  <a:srgbClr val="E4DFDF"/>
                </a:solidFill>
                <a:latin typeface="Calibri Light"/>
                <a:cs typeface="Calibri Light"/>
              </a:rPr>
              <a:t>or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Human</a:t>
            </a:r>
            <a:endParaRPr sz="1850">
              <a:latin typeface="Calibri Light"/>
              <a:cs typeface="Calibri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03026" y="5260340"/>
            <a:ext cx="169798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solidFill>
                  <a:srgbClr val="FFFFFF"/>
                </a:solidFill>
                <a:latin typeface="Calibri Light"/>
                <a:cs typeface="Calibri Light"/>
              </a:rPr>
              <a:t>Random</a:t>
            </a:r>
            <a:r>
              <a:rPr sz="22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 Light"/>
                <a:cs typeface="Calibri Light"/>
              </a:rPr>
              <a:t>Forest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003026" y="5816295"/>
            <a:ext cx="261302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100"/>
              </a:spcBef>
            </a:pP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Hundreds</a:t>
            </a:r>
            <a:r>
              <a:rPr sz="185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of</a:t>
            </a:r>
            <a:r>
              <a:rPr sz="185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trees,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majority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voting</a:t>
            </a:r>
            <a:r>
              <a:rPr sz="185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for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final</a:t>
            </a:r>
            <a:r>
              <a:rPr sz="185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decision</a:t>
            </a:r>
            <a:endParaRPr sz="1850">
              <a:latin typeface="Calibri Light"/>
              <a:cs typeface="Calibri Ligh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8355" y="7471960"/>
            <a:ext cx="3596893" cy="6934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3657FF-DE4E-D9D3-861A-3FEAC08E4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208" y="7239000"/>
            <a:ext cx="4339894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8839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12088" y="3554348"/>
            <a:ext cx="5059680" cy="689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350" spc="-75" dirty="0"/>
              <a:t>Training</a:t>
            </a:r>
            <a:r>
              <a:rPr sz="4350" spc="-150" dirty="0"/>
              <a:t> </a:t>
            </a:r>
            <a:r>
              <a:rPr sz="4350" dirty="0"/>
              <a:t>and</a:t>
            </a:r>
            <a:r>
              <a:rPr sz="4350" spc="-150" dirty="0"/>
              <a:t> </a:t>
            </a:r>
            <a:r>
              <a:rPr sz="4350" spc="-45" dirty="0"/>
              <a:t>Evaluation</a:t>
            </a:r>
            <a:endParaRPr sz="4350"/>
          </a:p>
        </p:txBody>
      </p:sp>
      <p:grpSp>
        <p:nvGrpSpPr>
          <p:cNvPr id="4" name="object 4"/>
          <p:cNvGrpSpPr/>
          <p:nvPr/>
        </p:nvGrpSpPr>
        <p:grpSpPr>
          <a:xfrm>
            <a:off x="820940" y="4637913"/>
            <a:ext cx="6380480" cy="1359535"/>
            <a:chOff x="820940" y="4637913"/>
            <a:chExt cx="6380480" cy="1359535"/>
          </a:xfrm>
        </p:grpSpPr>
        <p:sp>
          <p:nvSpPr>
            <p:cNvPr id="5" name="object 5"/>
            <p:cNvSpPr/>
            <p:nvPr/>
          </p:nvSpPr>
          <p:spPr>
            <a:xfrm>
              <a:off x="824750" y="4641723"/>
              <a:ext cx="6372860" cy="1351915"/>
            </a:xfrm>
            <a:custGeom>
              <a:avLst/>
              <a:gdLst/>
              <a:ahLst/>
              <a:cxnLst/>
              <a:rect l="l" t="t" r="r" b="b"/>
              <a:pathLst>
                <a:path w="6372859" h="1351914">
                  <a:moveTo>
                    <a:pt x="6273660" y="0"/>
                  </a:moveTo>
                  <a:lnTo>
                    <a:pt x="98983" y="0"/>
                  </a:lnTo>
                  <a:lnTo>
                    <a:pt x="60452" y="7780"/>
                  </a:lnTo>
                  <a:lnTo>
                    <a:pt x="28989" y="29003"/>
                  </a:lnTo>
                  <a:lnTo>
                    <a:pt x="7777" y="60489"/>
                  </a:lnTo>
                  <a:lnTo>
                    <a:pt x="0" y="99060"/>
                  </a:lnTo>
                  <a:lnTo>
                    <a:pt x="0" y="1252474"/>
                  </a:lnTo>
                  <a:lnTo>
                    <a:pt x="7777" y="1290970"/>
                  </a:lnTo>
                  <a:lnTo>
                    <a:pt x="28989" y="1322419"/>
                  </a:lnTo>
                  <a:lnTo>
                    <a:pt x="60452" y="1343628"/>
                  </a:lnTo>
                  <a:lnTo>
                    <a:pt x="98983" y="1351407"/>
                  </a:lnTo>
                  <a:lnTo>
                    <a:pt x="6273660" y="1351407"/>
                  </a:lnTo>
                  <a:lnTo>
                    <a:pt x="6312230" y="1343628"/>
                  </a:lnTo>
                  <a:lnTo>
                    <a:pt x="6343716" y="1322419"/>
                  </a:lnTo>
                  <a:lnTo>
                    <a:pt x="6364939" y="1290970"/>
                  </a:lnTo>
                  <a:lnTo>
                    <a:pt x="6372720" y="1252474"/>
                  </a:lnTo>
                  <a:lnTo>
                    <a:pt x="6372720" y="99060"/>
                  </a:lnTo>
                  <a:lnTo>
                    <a:pt x="6364939" y="60489"/>
                  </a:lnTo>
                  <a:lnTo>
                    <a:pt x="6343716" y="29003"/>
                  </a:lnTo>
                  <a:lnTo>
                    <a:pt x="6312230" y="7780"/>
                  </a:lnTo>
                  <a:lnTo>
                    <a:pt x="6273660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4750" y="4641723"/>
              <a:ext cx="6372860" cy="1351915"/>
            </a:xfrm>
            <a:custGeom>
              <a:avLst/>
              <a:gdLst/>
              <a:ahLst/>
              <a:cxnLst/>
              <a:rect l="l" t="t" r="r" b="b"/>
              <a:pathLst>
                <a:path w="6372859" h="1351914">
                  <a:moveTo>
                    <a:pt x="0" y="99060"/>
                  </a:moveTo>
                  <a:lnTo>
                    <a:pt x="7777" y="60489"/>
                  </a:lnTo>
                  <a:lnTo>
                    <a:pt x="28989" y="29003"/>
                  </a:lnTo>
                  <a:lnTo>
                    <a:pt x="60452" y="7780"/>
                  </a:lnTo>
                  <a:lnTo>
                    <a:pt x="98983" y="0"/>
                  </a:lnTo>
                  <a:lnTo>
                    <a:pt x="6273660" y="0"/>
                  </a:lnTo>
                  <a:lnTo>
                    <a:pt x="6312230" y="7780"/>
                  </a:lnTo>
                  <a:lnTo>
                    <a:pt x="6343716" y="29003"/>
                  </a:lnTo>
                  <a:lnTo>
                    <a:pt x="6364939" y="60489"/>
                  </a:lnTo>
                  <a:lnTo>
                    <a:pt x="6372720" y="99060"/>
                  </a:lnTo>
                  <a:lnTo>
                    <a:pt x="6372720" y="1252474"/>
                  </a:lnTo>
                  <a:lnTo>
                    <a:pt x="6364939" y="1290970"/>
                  </a:lnTo>
                  <a:lnTo>
                    <a:pt x="6343716" y="1322419"/>
                  </a:lnTo>
                  <a:lnTo>
                    <a:pt x="6312230" y="1343628"/>
                  </a:lnTo>
                  <a:lnTo>
                    <a:pt x="6273660" y="1351407"/>
                  </a:lnTo>
                  <a:lnTo>
                    <a:pt x="98983" y="1351407"/>
                  </a:lnTo>
                  <a:lnTo>
                    <a:pt x="60452" y="1343628"/>
                  </a:lnTo>
                  <a:lnTo>
                    <a:pt x="28989" y="1322419"/>
                  </a:lnTo>
                  <a:lnTo>
                    <a:pt x="7777" y="1290970"/>
                  </a:lnTo>
                  <a:lnTo>
                    <a:pt x="0" y="1252474"/>
                  </a:lnTo>
                  <a:lnTo>
                    <a:pt x="0" y="99060"/>
                  </a:lnTo>
                  <a:close/>
                </a:path>
              </a:pathLst>
            </a:custGeom>
            <a:ln w="7619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429245" y="4637913"/>
            <a:ext cx="6380480" cy="1359535"/>
            <a:chOff x="7429245" y="4637913"/>
            <a:chExt cx="6380480" cy="1359535"/>
          </a:xfrm>
        </p:grpSpPr>
        <p:sp>
          <p:nvSpPr>
            <p:cNvPr id="8" name="object 8"/>
            <p:cNvSpPr/>
            <p:nvPr/>
          </p:nvSpPr>
          <p:spPr>
            <a:xfrm>
              <a:off x="7433055" y="4641723"/>
              <a:ext cx="6372860" cy="1351915"/>
            </a:xfrm>
            <a:custGeom>
              <a:avLst/>
              <a:gdLst/>
              <a:ahLst/>
              <a:cxnLst/>
              <a:rect l="l" t="t" r="r" b="b"/>
              <a:pathLst>
                <a:path w="6372859" h="1351914">
                  <a:moveTo>
                    <a:pt x="6273673" y="0"/>
                  </a:moveTo>
                  <a:lnTo>
                    <a:pt x="99060" y="0"/>
                  </a:lnTo>
                  <a:lnTo>
                    <a:pt x="60489" y="7780"/>
                  </a:lnTo>
                  <a:lnTo>
                    <a:pt x="29003" y="29003"/>
                  </a:lnTo>
                  <a:lnTo>
                    <a:pt x="7780" y="60489"/>
                  </a:lnTo>
                  <a:lnTo>
                    <a:pt x="0" y="99060"/>
                  </a:lnTo>
                  <a:lnTo>
                    <a:pt x="0" y="1252474"/>
                  </a:lnTo>
                  <a:lnTo>
                    <a:pt x="7780" y="1290970"/>
                  </a:lnTo>
                  <a:lnTo>
                    <a:pt x="29003" y="1322419"/>
                  </a:lnTo>
                  <a:lnTo>
                    <a:pt x="60489" y="1343628"/>
                  </a:lnTo>
                  <a:lnTo>
                    <a:pt x="99060" y="1351407"/>
                  </a:lnTo>
                  <a:lnTo>
                    <a:pt x="6273673" y="1351407"/>
                  </a:lnTo>
                  <a:lnTo>
                    <a:pt x="6312243" y="1343628"/>
                  </a:lnTo>
                  <a:lnTo>
                    <a:pt x="6343729" y="1322419"/>
                  </a:lnTo>
                  <a:lnTo>
                    <a:pt x="6364952" y="1290970"/>
                  </a:lnTo>
                  <a:lnTo>
                    <a:pt x="6372733" y="1252474"/>
                  </a:lnTo>
                  <a:lnTo>
                    <a:pt x="6372733" y="99060"/>
                  </a:lnTo>
                  <a:lnTo>
                    <a:pt x="6364952" y="60489"/>
                  </a:lnTo>
                  <a:lnTo>
                    <a:pt x="6343729" y="29003"/>
                  </a:lnTo>
                  <a:lnTo>
                    <a:pt x="6312243" y="7780"/>
                  </a:lnTo>
                  <a:lnTo>
                    <a:pt x="6273673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33055" y="4641723"/>
              <a:ext cx="6372860" cy="1351915"/>
            </a:xfrm>
            <a:custGeom>
              <a:avLst/>
              <a:gdLst/>
              <a:ahLst/>
              <a:cxnLst/>
              <a:rect l="l" t="t" r="r" b="b"/>
              <a:pathLst>
                <a:path w="6372859" h="1351914">
                  <a:moveTo>
                    <a:pt x="0" y="99060"/>
                  </a:moveTo>
                  <a:lnTo>
                    <a:pt x="7780" y="60489"/>
                  </a:lnTo>
                  <a:lnTo>
                    <a:pt x="29003" y="29003"/>
                  </a:lnTo>
                  <a:lnTo>
                    <a:pt x="60489" y="7780"/>
                  </a:lnTo>
                  <a:lnTo>
                    <a:pt x="99060" y="0"/>
                  </a:lnTo>
                  <a:lnTo>
                    <a:pt x="6273673" y="0"/>
                  </a:lnTo>
                  <a:lnTo>
                    <a:pt x="6312243" y="7780"/>
                  </a:lnTo>
                  <a:lnTo>
                    <a:pt x="6343729" y="29003"/>
                  </a:lnTo>
                  <a:lnTo>
                    <a:pt x="6364952" y="60489"/>
                  </a:lnTo>
                  <a:lnTo>
                    <a:pt x="6372733" y="99060"/>
                  </a:lnTo>
                  <a:lnTo>
                    <a:pt x="6372733" y="1252474"/>
                  </a:lnTo>
                  <a:lnTo>
                    <a:pt x="6364952" y="1290970"/>
                  </a:lnTo>
                  <a:lnTo>
                    <a:pt x="6343729" y="1322419"/>
                  </a:lnTo>
                  <a:lnTo>
                    <a:pt x="6312243" y="1343628"/>
                  </a:lnTo>
                  <a:lnTo>
                    <a:pt x="6273673" y="1351407"/>
                  </a:lnTo>
                  <a:lnTo>
                    <a:pt x="99060" y="1351407"/>
                  </a:lnTo>
                  <a:lnTo>
                    <a:pt x="60489" y="1343628"/>
                  </a:lnTo>
                  <a:lnTo>
                    <a:pt x="29003" y="1322419"/>
                  </a:lnTo>
                  <a:lnTo>
                    <a:pt x="7780" y="1290970"/>
                  </a:lnTo>
                  <a:lnTo>
                    <a:pt x="0" y="1252474"/>
                  </a:lnTo>
                  <a:lnTo>
                    <a:pt x="0" y="99060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664322" y="4858003"/>
            <a:ext cx="190500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30" dirty="0">
                <a:solidFill>
                  <a:srgbClr val="E4DFDF"/>
                </a:solidFill>
                <a:latin typeface="Calibri Light"/>
                <a:cs typeface="Calibri Light"/>
              </a:rPr>
              <a:t>Hyperparameters</a:t>
            </a:r>
            <a:endParaRPr sz="2150">
              <a:latin typeface="Calibri Light"/>
              <a:cs typeface="Calibri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64322" y="5412994"/>
            <a:ext cx="399796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25" dirty="0">
                <a:solidFill>
                  <a:srgbClr val="E4DFDF"/>
                </a:solidFill>
                <a:latin typeface="Calibri Light"/>
                <a:cs typeface="Calibri Light"/>
              </a:rPr>
              <a:t>Tuned</a:t>
            </a:r>
            <a:r>
              <a:rPr sz="185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trees=300,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depth=30,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criterion=gini</a:t>
            </a:r>
            <a:endParaRPr sz="1850">
              <a:latin typeface="Calibri Light"/>
              <a:cs typeface="Calibri Ligh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20940" y="6224904"/>
            <a:ext cx="6380480" cy="1359535"/>
            <a:chOff x="820940" y="6224904"/>
            <a:chExt cx="6380480" cy="1359535"/>
          </a:xfrm>
        </p:grpSpPr>
        <p:sp>
          <p:nvSpPr>
            <p:cNvPr id="13" name="object 13"/>
            <p:cNvSpPr/>
            <p:nvPr/>
          </p:nvSpPr>
          <p:spPr>
            <a:xfrm>
              <a:off x="824750" y="6228714"/>
              <a:ext cx="6372860" cy="1351915"/>
            </a:xfrm>
            <a:custGeom>
              <a:avLst/>
              <a:gdLst/>
              <a:ahLst/>
              <a:cxnLst/>
              <a:rect l="l" t="t" r="r" b="b"/>
              <a:pathLst>
                <a:path w="6372859" h="1351915">
                  <a:moveTo>
                    <a:pt x="6273660" y="0"/>
                  </a:moveTo>
                  <a:lnTo>
                    <a:pt x="98983" y="0"/>
                  </a:lnTo>
                  <a:lnTo>
                    <a:pt x="60452" y="7780"/>
                  </a:lnTo>
                  <a:lnTo>
                    <a:pt x="28989" y="29003"/>
                  </a:lnTo>
                  <a:lnTo>
                    <a:pt x="7777" y="60489"/>
                  </a:lnTo>
                  <a:lnTo>
                    <a:pt x="0" y="99060"/>
                  </a:lnTo>
                  <a:lnTo>
                    <a:pt x="0" y="1252410"/>
                  </a:lnTo>
                  <a:lnTo>
                    <a:pt x="7777" y="1290942"/>
                  </a:lnTo>
                  <a:lnTo>
                    <a:pt x="28989" y="1322404"/>
                  </a:lnTo>
                  <a:lnTo>
                    <a:pt x="60452" y="1343616"/>
                  </a:lnTo>
                  <a:lnTo>
                    <a:pt x="98983" y="1351394"/>
                  </a:lnTo>
                  <a:lnTo>
                    <a:pt x="6273660" y="1351394"/>
                  </a:lnTo>
                  <a:lnTo>
                    <a:pt x="6312230" y="1343616"/>
                  </a:lnTo>
                  <a:lnTo>
                    <a:pt x="6343716" y="1322404"/>
                  </a:lnTo>
                  <a:lnTo>
                    <a:pt x="6364939" y="1290942"/>
                  </a:lnTo>
                  <a:lnTo>
                    <a:pt x="6372720" y="1252410"/>
                  </a:lnTo>
                  <a:lnTo>
                    <a:pt x="6372720" y="99060"/>
                  </a:lnTo>
                  <a:lnTo>
                    <a:pt x="6364939" y="60489"/>
                  </a:lnTo>
                  <a:lnTo>
                    <a:pt x="6343716" y="29003"/>
                  </a:lnTo>
                  <a:lnTo>
                    <a:pt x="6312230" y="7780"/>
                  </a:lnTo>
                  <a:lnTo>
                    <a:pt x="6273660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24750" y="6228714"/>
              <a:ext cx="6372860" cy="1351915"/>
            </a:xfrm>
            <a:custGeom>
              <a:avLst/>
              <a:gdLst/>
              <a:ahLst/>
              <a:cxnLst/>
              <a:rect l="l" t="t" r="r" b="b"/>
              <a:pathLst>
                <a:path w="6372859" h="1351915">
                  <a:moveTo>
                    <a:pt x="0" y="99060"/>
                  </a:moveTo>
                  <a:lnTo>
                    <a:pt x="7777" y="60489"/>
                  </a:lnTo>
                  <a:lnTo>
                    <a:pt x="28989" y="29003"/>
                  </a:lnTo>
                  <a:lnTo>
                    <a:pt x="60452" y="7780"/>
                  </a:lnTo>
                  <a:lnTo>
                    <a:pt x="98983" y="0"/>
                  </a:lnTo>
                  <a:lnTo>
                    <a:pt x="6273660" y="0"/>
                  </a:lnTo>
                  <a:lnTo>
                    <a:pt x="6312230" y="7780"/>
                  </a:lnTo>
                  <a:lnTo>
                    <a:pt x="6343716" y="29003"/>
                  </a:lnTo>
                  <a:lnTo>
                    <a:pt x="6364939" y="60489"/>
                  </a:lnTo>
                  <a:lnTo>
                    <a:pt x="6372720" y="99060"/>
                  </a:lnTo>
                  <a:lnTo>
                    <a:pt x="6372720" y="1252410"/>
                  </a:lnTo>
                  <a:lnTo>
                    <a:pt x="6364939" y="1290942"/>
                  </a:lnTo>
                  <a:lnTo>
                    <a:pt x="6343716" y="1322404"/>
                  </a:lnTo>
                  <a:lnTo>
                    <a:pt x="6312230" y="1343616"/>
                  </a:lnTo>
                  <a:lnTo>
                    <a:pt x="6273660" y="1351394"/>
                  </a:lnTo>
                  <a:lnTo>
                    <a:pt x="98983" y="1351394"/>
                  </a:lnTo>
                  <a:lnTo>
                    <a:pt x="60452" y="1343616"/>
                  </a:lnTo>
                  <a:lnTo>
                    <a:pt x="28989" y="1322404"/>
                  </a:lnTo>
                  <a:lnTo>
                    <a:pt x="7777" y="1290942"/>
                  </a:lnTo>
                  <a:lnTo>
                    <a:pt x="0" y="1252410"/>
                  </a:lnTo>
                  <a:lnTo>
                    <a:pt x="0" y="99060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55319" y="4858003"/>
            <a:ext cx="4033520" cy="2449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35" dirty="0">
                <a:solidFill>
                  <a:srgbClr val="E4DFDF"/>
                </a:solidFill>
                <a:latin typeface="Calibri Light"/>
                <a:cs typeface="Calibri Light"/>
              </a:rPr>
              <a:t>Cross-</a:t>
            </a:r>
            <a:r>
              <a:rPr sz="2150" spc="-10" dirty="0">
                <a:solidFill>
                  <a:srgbClr val="E4DFDF"/>
                </a:solidFill>
                <a:latin typeface="Calibri Light"/>
                <a:cs typeface="Calibri Light"/>
              </a:rPr>
              <a:t>Validation</a:t>
            </a:r>
            <a:endParaRPr sz="215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5-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fold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to</a:t>
            </a:r>
            <a:r>
              <a:rPr sz="185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ensure</a:t>
            </a:r>
            <a:r>
              <a:rPr sz="185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model</a:t>
            </a:r>
            <a:r>
              <a:rPr sz="185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generalization</a:t>
            </a:r>
            <a:endParaRPr sz="185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85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395"/>
              </a:spcBef>
            </a:pPr>
            <a:endParaRPr sz="185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2150" spc="-40" dirty="0">
                <a:solidFill>
                  <a:srgbClr val="E4DFDF"/>
                </a:solidFill>
                <a:latin typeface="Calibri Light"/>
                <a:cs typeface="Calibri Light"/>
              </a:rPr>
              <a:t>Platform-</a:t>
            </a:r>
            <a:r>
              <a:rPr sz="2150" spc="-20" dirty="0">
                <a:solidFill>
                  <a:srgbClr val="E4DFDF"/>
                </a:solidFill>
                <a:latin typeface="Calibri Light"/>
                <a:cs typeface="Calibri Light"/>
              </a:rPr>
              <a:t>Specific</a:t>
            </a:r>
            <a:r>
              <a:rPr sz="2150" spc="3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150" spc="-10" dirty="0">
                <a:solidFill>
                  <a:srgbClr val="E4DFDF"/>
                </a:solidFill>
                <a:latin typeface="Calibri Light"/>
                <a:cs typeface="Calibri Light"/>
              </a:rPr>
              <a:t>Models</a:t>
            </a:r>
            <a:endParaRPr sz="215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Separate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models</a:t>
            </a:r>
            <a:r>
              <a:rPr sz="185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for</a:t>
            </a:r>
            <a:r>
              <a:rPr sz="185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Instagram</a:t>
            </a:r>
            <a:r>
              <a:rPr sz="185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and</a:t>
            </a:r>
            <a:r>
              <a:rPr sz="185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Twitter</a:t>
            </a:r>
            <a:endParaRPr sz="1850">
              <a:latin typeface="Calibri Light"/>
              <a:cs typeface="Calibri Ligh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429245" y="6224904"/>
            <a:ext cx="6380480" cy="1359535"/>
            <a:chOff x="7429245" y="6224904"/>
            <a:chExt cx="6380480" cy="1359535"/>
          </a:xfrm>
        </p:grpSpPr>
        <p:sp>
          <p:nvSpPr>
            <p:cNvPr id="17" name="object 17"/>
            <p:cNvSpPr/>
            <p:nvPr/>
          </p:nvSpPr>
          <p:spPr>
            <a:xfrm>
              <a:off x="7433055" y="6228714"/>
              <a:ext cx="6372860" cy="1351915"/>
            </a:xfrm>
            <a:custGeom>
              <a:avLst/>
              <a:gdLst/>
              <a:ahLst/>
              <a:cxnLst/>
              <a:rect l="l" t="t" r="r" b="b"/>
              <a:pathLst>
                <a:path w="6372859" h="1351915">
                  <a:moveTo>
                    <a:pt x="6273673" y="0"/>
                  </a:moveTo>
                  <a:lnTo>
                    <a:pt x="99060" y="0"/>
                  </a:lnTo>
                  <a:lnTo>
                    <a:pt x="60489" y="7780"/>
                  </a:lnTo>
                  <a:lnTo>
                    <a:pt x="29003" y="29003"/>
                  </a:lnTo>
                  <a:lnTo>
                    <a:pt x="7780" y="60489"/>
                  </a:lnTo>
                  <a:lnTo>
                    <a:pt x="0" y="99060"/>
                  </a:lnTo>
                  <a:lnTo>
                    <a:pt x="0" y="1252410"/>
                  </a:lnTo>
                  <a:lnTo>
                    <a:pt x="7780" y="1290942"/>
                  </a:lnTo>
                  <a:lnTo>
                    <a:pt x="29003" y="1322404"/>
                  </a:lnTo>
                  <a:lnTo>
                    <a:pt x="60489" y="1343616"/>
                  </a:lnTo>
                  <a:lnTo>
                    <a:pt x="99060" y="1351394"/>
                  </a:lnTo>
                  <a:lnTo>
                    <a:pt x="6273673" y="1351394"/>
                  </a:lnTo>
                  <a:lnTo>
                    <a:pt x="6312243" y="1343616"/>
                  </a:lnTo>
                  <a:lnTo>
                    <a:pt x="6343729" y="1322404"/>
                  </a:lnTo>
                  <a:lnTo>
                    <a:pt x="6364952" y="1290942"/>
                  </a:lnTo>
                  <a:lnTo>
                    <a:pt x="6372733" y="1252410"/>
                  </a:lnTo>
                  <a:lnTo>
                    <a:pt x="6372733" y="99060"/>
                  </a:lnTo>
                  <a:lnTo>
                    <a:pt x="6364952" y="60489"/>
                  </a:lnTo>
                  <a:lnTo>
                    <a:pt x="6343729" y="29003"/>
                  </a:lnTo>
                  <a:lnTo>
                    <a:pt x="6312243" y="7780"/>
                  </a:lnTo>
                  <a:lnTo>
                    <a:pt x="6273673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33055" y="6228714"/>
              <a:ext cx="6372860" cy="1351915"/>
            </a:xfrm>
            <a:custGeom>
              <a:avLst/>
              <a:gdLst/>
              <a:ahLst/>
              <a:cxnLst/>
              <a:rect l="l" t="t" r="r" b="b"/>
              <a:pathLst>
                <a:path w="6372859" h="1351915">
                  <a:moveTo>
                    <a:pt x="0" y="99060"/>
                  </a:moveTo>
                  <a:lnTo>
                    <a:pt x="7780" y="60489"/>
                  </a:lnTo>
                  <a:lnTo>
                    <a:pt x="29003" y="29003"/>
                  </a:lnTo>
                  <a:lnTo>
                    <a:pt x="60489" y="7780"/>
                  </a:lnTo>
                  <a:lnTo>
                    <a:pt x="99060" y="0"/>
                  </a:lnTo>
                  <a:lnTo>
                    <a:pt x="6273673" y="0"/>
                  </a:lnTo>
                  <a:lnTo>
                    <a:pt x="6312243" y="7780"/>
                  </a:lnTo>
                  <a:lnTo>
                    <a:pt x="6343729" y="29003"/>
                  </a:lnTo>
                  <a:lnTo>
                    <a:pt x="6364952" y="60489"/>
                  </a:lnTo>
                  <a:lnTo>
                    <a:pt x="6372733" y="99060"/>
                  </a:lnTo>
                  <a:lnTo>
                    <a:pt x="6372733" y="1252410"/>
                  </a:lnTo>
                  <a:lnTo>
                    <a:pt x="6364952" y="1290942"/>
                  </a:lnTo>
                  <a:lnTo>
                    <a:pt x="6343729" y="1322404"/>
                  </a:lnTo>
                  <a:lnTo>
                    <a:pt x="6312243" y="1343616"/>
                  </a:lnTo>
                  <a:lnTo>
                    <a:pt x="6273673" y="1351394"/>
                  </a:lnTo>
                  <a:lnTo>
                    <a:pt x="99060" y="1351394"/>
                  </a:lnTo>
                  <a:lnTo>
                    <a:pt x="60489" y="1343616"/>
                  </a:lnTo>
                  <a:lnTo>
                    <a:pt x="29003" y="1322404"/>
                  </a:lnTo>
                  <a:lnTo>
                    <a:pt x="7780" y="1290942"/>
                  </a:lnTo>
                  <a:lnTo>
                    <a:pt x="0" y="1252410"/>
                  </a:lnTo>
                  <a:lnTo>
                    <a:pt x="0" y="99060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664322" y="6445377"/>
            <a:ext cx="84772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10" dirty="0">
                <a:solidFill>
                  <a:srgbClr val="E4DFDF"/>
                </a:solidFill>
                <a:latin typeface="Calibri Light"/>
                <a:cs typeface="Calibri Light"/>
              </a:rPr>
              <a:t>Metrics</a:t>
            </a:r>
            <a:endParaRPr sz="2150">
              <a:latin typeface="Calibri Light"/>
              <a:cs typeface="Calibri Ligh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64322" y="7000443"/>
            <a:ext cx="3796665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25" dirty="0">
                <a:solidFill>
                  <a:srgbClr val="E4DFDF"/>
                </a:solidFill>
                <a:latin typeface="Calibri Light"/>
                <a:cs typeface="Calibri Light"/>
              </a:rPr>
              <a:t>Accuracy,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Precision,</a:t>
            </a:r>
            <a:r>
              <a:rPr sz="1850" spc="-1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Recall,</a:t>
            </a:r>
            <a:r>
              <a:rPr sz="1850" spc="-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F1,</a:t>
            </a:r>
            <a:r>
              <a:rPr sz="1850" spc="-1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20" dirty="0">
                <a:solidFill>
                  <a:srgbClr val="E4DFDF"/>
                </a:solidFill>
                <a:latin typeface="Calibri Light"/>
                <a:cs typeface="Calibri Light"/>
              </a:rPr>
              <a:t>ROC-</a:t>
            </a:r>
            <a:r>
              <a:rPr sz="1850" spc="-25" dirty="0">
                <a:solidFill>
                  <a:srgbClr val="E4DFDF"/>
                </a:solidFill>
                <a:latin typeface="Calibri Light"/>
                <a:cs typeface="Calibri Light"/>
              </a:rPr>
              <a:t>AUC</a:t>
            </a:r>
            <a:endParaRPr sz="1850">
              <a:latin typeface="Calibri Light"/>
              <a:cs typeface="Calibri Ligh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8694" y="7742756"/>
            <a:ext cx="2146681" cy="41385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6EDE4CC-1820-8310-5D45-6F1051309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9398" y="7620000"/>
            <a:ext cx="2670704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4991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Instagram</a:t>
            </a:r>
            <a:r>
              <a:rPr spc="-200" dirty="0"/>
              <a:t> </a:t>
            </a:r>
            <a:r>
              <a:rPr spc="-40" dirty="0"/>
              <a:t>Detection</a:t>
            </a:r>
            <a:r>
              <a:rPr spc="-190" dirty="0"/>
              <a:t> </a:t>
            </a:r>
            <a:r>
              <a:rPr spc="-10" dirty="0"/>
              <a:t>Results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30542" y="2311095"/>
            <a:ext cx="1953895" cy="1634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6200" spc="-10" dirty="0">
                <a:solidFill>
                  <a:srgbClr val="E4DFDF"/>
                </a:solidFill>
                <a:latin typeface="Calibri Light"/>
                <a:cs typeface="Calibri Light"/>
              </a:rPr>
              <a:t>94.2%</a:t>
            </a:r>
            <a:endParaRPr sz="6200">
              <a:latin typeface="Calibri Light"/>
              <a:cs typeface="Calibri Light"/>
            </a:endParaRPr>
          </a:p>
          <a:p>
            <a:pPr marR="635" algn="ctr">
              <a:lnSpc>
                <a:spcPct val="100000"/>
              </a:lnSpc>
              <a:spcBef>
                <a:spcPts val="2580"/>
              </a:spcBef>
            </a:pPr>
            <a:r>
              <a:rPr sz="2200" spc="-10" dirty="0">
                <a:solidFill>
                  <a:srgbClr val="E4DFDF"/>
                </a:solidFill>
                <a:latin typeface="Calibri Light"/>
                <a:cs typeface="Calibri Light"/>
              </a:rPr>
              <a:t>Accuracy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4808" y="2311095"/>
            <a:ext cx="1953895" cy="1634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6200" spc="-10" dirty="0">
                <a:solidFill>
                  <a:srgbClr val="E4DFDF"/>
                </a:solidFill>
                <a:latin typeface="Calibri Light"/>
                <a:cs typeface="Calibri Light"/>
              </a:rPr>
              <a:t>93.7%</a:t>
            </a:r>
            <a:endParaRPr sz="6200">
              <a:latin typeface="Calibri Light"/>
              <a:cs typeface="Calibri Light"/>
            </a:endParaRPr>
          </a:p>
          <a:p>
            <a:pPr marR="1270" algn="ctr">
              <a:lnSpc>
                <a:spcPct val="100000"/>
              </a:lnSpc>
              <a:spcBef>
                <a:spcPts val="2580"/>
              </a:spcBef>
            </a:pPr>
            <a:r>
              <a:rPr sz="2200" spc="-10" dirty="0">
                <a:solidFill>
                  <a:srgbClr val="E4DFDF"/>
                </a:solidFill>
                <a:latin typeface="Calibri Light"/>
                <a:cs typeface="Calibri Light"/>
              </a:rPr>
              <a:t>Precision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30542" y="4590110"/>
            <a:ext cx="1953895" cy="1634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6200" spc="-10" dirty="0">
                <a:solidFill>
                  <a:srgbClr val="E4DFDF"/>
                </a:solidFill>
                <a:latin typeface="Calibri Light"/>
                <a:cs typeface="Calibri Light"/>
              </a:rPr>
              <a:t>94.5%</a:t>
            </a:r>
            <a:endParaRPr sz="6200">
              <a:latin typeface="Calibri Light"/>
              <a:cs typeface="Calibri Light"/>
            </a:endParaRPr>
          </a:p>
          <a:p>
            <a:pPr marR="1905" algn="ctr">
              <a:lnSpc>
                <a:spcPct val="100000"/>
              </a:lnSpc>
              <a:spcBef>
                <a:spcPts val="2580"/>
              </a:spcBef>
            </a:pPr>
            <a:r>
              <a:rPr sz="2200" spc="-10" dirty="0">
                <a:solidFill>
                  <a:srgbClr val="E4DFDF"/>
                </a:solidFill>
                <a:latin typeface="Calibri Light"/>
                <a:cs typeface="Calibri Light"/>
              </a:rPr>
              <a:t>Recall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44808" y="4590110"/>
            <a:ext cx="1953895" cy="1634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6200" spc="-10" dirty="0">
                <a:solidFill>
                  <a:srgbClr val="E4DFDF"/>
                </a:solidFill>
                <a:latin typeface="Calibri Light"/>
                <a:cs typeface="Calibri Light"/>
              </a:rPr>
              <a:t>96.3%</a:t>
            </a:r>
            <a:endParaRPr sz="6200">
              <a:latin typeface="Calibri Light"/>
              <a:cs typeface="Calibri Light"/>
            </a:endParaRPr>
          </a:p>
          <a:p>
            <a:pPr algn="ctr">
              <a:lnSpc>
                <a:spcPct val="100000"/>
              </a:lnSpc>
              <a:spcBef>
                <a:spcPts val="2580"/>
              </a:spcBef>
            </a:pPr>
            <a:r>
              <a:rPr sz="2200" spc="-35" dirty="0">
                <a:solidFill>
                  <a:srgbClr val="E4DFDF"/>
                </a:solidFill>
                <a:latin typeface="Calibri Light"/>
                <a:cs typeface="Calibri Light"/>
              </a:rPr>
              <a:t>ROC-</a:t>
            </a:r>
            <a:r>
              <a:rPr sz="2200" spc="-25" dirty="0">
                <a:solidFill>
                  <a:srgbClr val="E4DFDF"/>
                </a:solidFill>
                <a:latin typeface="Calibri Light"/>
                <a:cs typeface="Calibri Light"/>
              </a:rPr>
              <a:t>AUC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11900" y="6549390"/>
            <a:ext cx="6301105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Indicators:</a:t>
            </a:r>
            <a:r>
              <a:rPr sz="1850" spc="-7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Low</a:t>
            </a:r>
            <a:r>
              <a:rPr sz="185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follower/following</a:t>
            </a:r>
            <a:r>
              <a:rPr sz="185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ratio,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unusual</a:t>
            </a:r>
            <a:r>
              <a:rPr sz="185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posting</a:t>
            </a:r>
            <a:r>
              <a:rPr sz="185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frequency</a:t>
            </a:r>
            <a:endParaRPr sz="1850">
              <a:latin typeface="Calibri Light"/>
              <a:cs typeface="Calibri Light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8694" y="7742756"/>
            <a:ext cx="2146681" cy="4138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5B5434-6E70-EBB6-30E8-131C898BD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9398" y="7620000"/>
            <a:ext cx="2670704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Twitter</a:t>
            </a:r>
            <a:r>
              <a:rPr spc="-155" dirty="0"/>
              <a:t> </a:t>
            </a:r>
            <a:r>
              <a:rPr spc="-40" dirty="0"/>
              <a:t>Detection</a:t>
            </a:r>
            <a:r>
              <a:rPr spc="-170" dirty="0"/>
              <a:t> </a:t>
            </a:r>
            <a:r>
              <a:rPr spc="-10" dirty="0"/>
              <a:t>Results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43888" y="2311095"/>
            <a:ext cx="1953895" cy="1634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6200" spc="-10" dirty="0">
                <a:solidFill>
                  <a:srgbClr val="E4DFDF"/>
                </a:solidFill>
                <a:latin typeface="Calibri Light"/>
                <a:cs typeface="Calibri Light"/>
              </a:rPr>
              <a:t>98.8%</a:t>
            </a:r>
            <a:endParaRPr sz="6200">
              <a:latin typeface="Calibri Light"/>
              <a:cs typeface="Calibri Light"/>
            </a:endParaRPr>
          </a:p>
          <a:p>
            <a:pPr marR="1270" algn="ctr">
              <a:lnSpc>
                <a:spcPct val="100000"/>
              </a:lnSpc>
              <a:spcBef>
                <a:spcPts val="2580"/>
              </a:spcBef>
            </a:pPr>
            <a:r>
              <a:rPr sz="2200" spc="-10" dirty="0">
                <a:solidFill>
                  <a:srgbClr val="E4DFDF"/>
                </a:solidFill>
                <a:latin typeface="Calibri Light"/>
                <a:cs typeface="Calibri Light"/>
              </a:rPr>
              <a:t>Accuracy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57773" y="2311095"/>
            <a:ext cx="1953895" cy="1634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6200" spc="-10" dirty="0">
                <a:solidFill>
                  <a:srgbClr val="E4DFDF"/>
                </a:solidFill>
                <a:latin typeface="Calibri Light"/>
                <a:cs typeface="Calibri Light"/>
              </a:rPr>
              <a:t>98.5%</a:t>
            </a:r>
            <a:endParaRPr sz="6200">
              <a:latin typeface="Calibri Light"/>
              <a:cs typeface="Calibri Light"/>
            </a:endParaRPr>
          </a:p>
          <a:p>
            <a:pPr marR="1270" algn="ctr">
              <a:lnSpc>
                <a:spcPct val="100000"/>
              </a:lnSpc>
              <a:spcBef>
                <a:spcPts val="2580"/>
              </a:spcBef>
            </a:pPr>
            <a:r>
              <a:rPr sz="2200" spc="-10" dirty="0">
                <a:solidFill>
                  <a:srgbClr val="E4DFDF"/>
                </a:solidFill>
                <a:latin typeface="Calibri Light"/>
                <a:cs typeface="Calibri Light"/>
              </a:rPr>
              <a:t>Precision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43888" y="4590110"/>
            <a:ext cx="1953895" cy="1634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6200" spc="-10" dirty="0">
                <a:solidFill>
                  <a:srgbClr val="E4DFDF"/>
                </a:solidFill>
                <a:latin typeface="Calibri Light"/>
                <a:cs typeface="Calibri Light"/>
              </a:rPr>
              <a:t>99.0%</a:t>
            </a:r>
            <a:endParaRPr sz="6200">
              <a:latin typeface="Calibri Light"/>
              <a:cs typeface="Calibri Light"/>
            </a:endParaRPr>
          </a:p>
          <a:p>
            <a:pPr marR="2540" algn="ctr">
              <a:lnSpc>
                <a:spcPct val="100000"/>
              </a:lnSpc>
              <a:spcBef>
                <a:spcPts val="2580"/>
              </a:spcBef>
            </a:pPr>
            <a:r>
              <a:rPr sz="2200" spc="-10" dirty="0">
                <a:solidFill>
                  <a:srgbClr val="E4DFDF"/>
                </a:solidFill>
                <a:latin typeface="Calibri Light"/>
                <a:cs typeface="Calibri Light"/>
              </a:rPr>
              <a:t>Recall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57773" y="4590110"/>
            <a:ext cx="1953895" cy="1634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6200" spc="-10" dirty="0">
                <a:solidFill>
                  <a:srgbClr val="E4DFDF"/>
                </a:solidFill>
                <a:latin typeface="Calibri Light"/>
                <a:cs typeface="Calibri Light"/>
              </a:rPr>
              <a:t>99.2%</a:t>
            </a:r>
            <a:endParaRPr sz="6200">
              <a:latin typeface="Calibri Light"/>
              <a:cs typeface="Calibri Light"/>
            </a:endParaRPr>
          </a:p>
          <a:p>
            <a:pPr algn="ctr">
              <a:lnSpc>
                <a:spcPct val="100000"/>
              </a:lnSpc>
              <a:spcBef>
                <a:spcPts val="2580"/>
              </a:spcBef>
            </a:pPr>
            <a:r>
              <a:rPr sz="2200" spc="-35" dirty="0">
                <a:solidFill>
                  <a:srgbClr val="E4DFDF"/>
                </a:solidFill>
                <a:latin typeface="Calibri Light"/>
                <a:cs typeface="Calibri Light"/>
              </a:rPr>
              <a:t>ROC-</a:t>
            </a:r>
            <a:r>
              <a:rPr sz="2200" spc="-25" dirty="0">
                <a:solidFill>
                  <a:srgbClr val="E4DFDF"/>
                </a:solidFill>
                <a:latin typeface="Calibri Light"/>
                <a:cs typeface="Calibri Light"/>
              </a:rPr>
              <a:t>AUC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5195" y="6549390"/>
            <a:ext cx="5958205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TF-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IDF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features</a:t>
            </a:r>
            <a:r>
              <a:rPr sz="185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greatly</a:t>
            </a:r>
            <a:r>
              <a:rPr sz="185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enhance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detection</a:t>
            </a:r>
            <a:r>
              <a:rPr sz="185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of</a:t>
            </a:r>
            <a:r>
              <a:rPr sz="185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spammy</a:t>
            </a:r>
            <a:r>
              <a:rPr sz="185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language</a:t>
            </a:r>
            <a:endParaRPr sz="185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8694" y="7742756"/>
            <a:ext cx="2146681" cy="41385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5195" y="663321"/>
            <a:ext cx="50501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Comparison</a:t>
            </a:r>
            <a:r>
              <a:rPr spc="-145" dirty="0"/>
              <a:t> </a:t>
            </a:r>
            <a:r>
              <a:rPr dirty="0"/>
              <a:t>&amp;</a:t>
            </a:r>
            <a:r>
              <a:rPr spc="-130" dirty="0"/>
              <a:t> </a:t>
            </a:r>
            <a:r>
              <a:rPr spc="-20" dirty="0"/>
              <a:t>Analysis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730" y="1773808"/>
            <a:ext cx="1196809" cy="57449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81250" y="1988566"/>
            <a:ext cx="4854575" cy="517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E4DFDF"/>
                </a:solidFill>
                <a:latin typeface="Calibri Light"/>
                <a:cs typeface="Calibri Light"/>
              </a:rPr>
              <a:t>Twitter</a:t>
            </a:r>
            <a:endParaRPr sz="2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Better</a:t>
            </a:r>
            <a:r>
              <a:rPr sz="185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due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to</a:t>
            </a:r>
            <a:r>
              <a:rPr sz="185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rich</a:t>
            </a:r>
            <a:r>
              <a:rPr sz="185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textual</a:t>
            </a:r>
            <a:r>
              <a:rPr sz="185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analysis</a:t>
            </a:r>
            <a:r>
              <a:rPr sz="1850" spc="-4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using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TF-</a:t>
            </a:r>
            <a:r>
              <a:rPr sz="1850" spc="-25" dirty="0">
                <a:solidFill>
                  <a:srgbClr val="E4DFDF"/>
                </a:solidFill>
                <a:latin typeface="Calibri Light"/>
                <a:cs typeface="Calibri Light"/>
              </a:rPr>
              <a:t>IDF</a:t>
            </a:r>
            <a:endParaRPr sz="185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85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85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solidFill>
                  <a:srgbClr val="E4DFDF"/>
                </a:solidFill>
                <a:latin typeface="Calibri Light"/>
                <a:cs typeface="Calibri Light"/>
              </a:rPr>
              <a:t>Instagram</a:t>
            </a:r>
            <a:endParaRPr sz="2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Relies</a:t>
            </a:r>
            <a:r>
              <a:rPr sz="1850" spc="-4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mainly</a:t>
            </a:r>
            <a:r>
              <a:rPr sz="1850" spc="-2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on</a:t>
            </a:r>
            <a:r>
              <a:rPr sz="1850" spc="-3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20" dirty="0">
                <a:solidFill>
                  <a:srgbClr val="E4DFDF"/>
                </a:solidFill>
                <a:latin typeface="Calibri Light"/>
                <a:cs typeface="Calibri Light"/>
              </a:rPr>
              <a:t>behavior-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based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 metadata</a:t>
            </a:r>
            <a:endParaRPr sz="185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85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85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2200" spc="-40" dirty="0">
                <a:solidFill>
                  <a:srgbClr val="E4DFDF"/>
                </a:solidFill>
                <a:latin typeface="Calibri Light"/>
                <a:cs typeface="Calibri Light"/>
              </a:rPr>
              <a:t>Twitter</a:t>
            </a:r>
            <a:r>
              <a:rPr sz="220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200" spc="-20" dirty="0">
                <a:solidFill>
                  <a:srgbClr val="E4DFDF"/>
                </a:solidFill>
                <a:latin typeface="Calibri Light"/>
                <a:cs typeface="Calibri Light"/>
              </a:rPr>
              <a:t>Bots</a:t>
            </a:r>
            <a:endParaRPr sz="2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64"/>
              </a:spcBef>
            </a:pP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Spammy</a:t>
            </a:r>
            <a:r>
              <a:rPr sz="1850" spc="-8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language</a:t>
            </a:r>
            <a:r>
              <a:rPr sz="185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patterns</a:t>
            </a:r>
            <a:r>
              <a:rPr sz="1850" spc="-8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detected</a:t>
            </a:r>
            <a:endParaRPr sz="185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85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85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2200" spc="-30" dirty="0">
                <a:solidFill>
                  <a:srgbClr val="E4DFDF"/>
                </a:solidFill>
                <a:latin typeface="Calibri Light"/>
                <a:cs typeface="Calibri Light"/>
              </a:rPr>
              <a:t>Instagram</a:t>
            </a:r>
            <a:r>
              <a:rPr sz="220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2200" spc="-20" dirty="0">
                <a:solidFill>
                  <a:srgbClr val="E4DFDF"/>
                </a:solidFill>
                <a:latin typeface="Calibri Light"/>
                <a:cs typeface="Calibri Light"/>
              </a:rPr>
              <a:t>Bots</a:t>
            </a:r>
            <a:endParaRPr sz="2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64"/>
              </a:spcBef>
            </a:pP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Abnormal</a:t>
            </a:r>
            <a:r>
              <a:rPr sz="1850" spc="-5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post</a:t>
            </a:r>
            <a:r>
              <a:rPr sz="185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timing,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URL</a:t>
            </a:r>
            <a:r>
              <a:rPr sz="1850" spc="-60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usage,</a:t>
            </a:r>
            <a:r>
              <a:rPr sz="1850" spc="-5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dirty="0">
                <a:solidFill>
                  <a:srgbClr val="E4DFDF"/>
                </a:solidFill>
                <a:latin typeface="Calibri Light"/>
                <a:cs typeface="Calibri Light"/>
              </a:rPr>
              <a:t>username</a:t>
            </a:r>
            <a:r>
              <a:rPr sz="1850" spc="-65" dirty="0">
                <a:solidFill>
                  <a:srgbClr val="E4DFDF"/>
                </a:solidFill>
                <a:latin typeface="Calibri Light"/>
                <a:cs typeface="Calibri Light"/>
              </a:rPr>
              <a:t> </a:t>
            </a:r>
            <a:r>
              <a:rPr sz="1850" spc="-10" dirty="0">
                <a:solidFill>
                  <a:srgbClr val="E4DFDF"/>
                </a:solidFill>
                <a:latin typeface="Calibri Light"/>
                <a:cs typeface="Calibri Light"/>
              </a:rPr>
              <a:t>length</a:t>
            </a:r>
            <a:endParaRPr sz="1850">
              <a:latin typeface="Calibri Light"/>
              <a:cs typeface="Calibri 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E77EA9-FF67-ADBF-65CA-637E89FD4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9398" y="7620000"/>
            <a:ext cx="2670704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5195" y="948055"/>
            <a:ext cx="66230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Conclusions</a:t>
            </a:r>
            <a:r>
              <a:rPr spc="-185" dirty="0"/>
              <a:t> </a:t>
            </a:r>
            <a:r>
              <a:rPr dirty="0"/>
              <a:t>and</a:t>
            </a:r>
            <a:r>
              <a:rPr spc="-185" dirty="0"/>
              <a:t> </a:t>
            </a:r>
            <a:r>
              <a:rPr spc="-25" dirty="0"/>
              <a:t>Future</a:t>
            </a:r>
            <a:r>
              <a:rPr spc="-190" dirty="0"/>
              <a:t> </a:t>
            </a:r>
            <a:r>
              <a:rPr spc="-10" dirty="0"/>
              <a:t>Scope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33920" y="2758694"/>
            <a:ext cx="187325" cy="886460"/>
            <a:chOff x="833920" y="2758694"/>
            <a:chExt cx="187325" cy="886460"/>
          </a:xfrm>
        </p:grpSpPr>
        <p:sp>
          <p:nvSpPr>
            <p:cNvPr id="5" name="object 5"/>
            <p:cNvSpPr/>
            <p:nvPr/>
          </p:nvSpPr>
          <p:spPr>
            <a:xfrm>
              <a:off x="837730" y="2762504"/>
              <a:ext cx="179705" cy="878840"/>
            </a:xfrm>
            <a:custGeom>
              <a:avLst/>
              <a:gdLst/>
              <a:ahLst/>
              <a:cxnLst/>
              <a:rect l="l" t="t" r="r" b="b"/>
              <a:pathLst>
                <a:path w="179705" h="878839">
                  <a:moveTo>
                    <a:pt x="89712" y="0"/>
                  </a:moveTo>
                  <a:lnTo>
                    <a:pt x="54788" y="7044"/>
                  </a:lnTo>
                  <a:lnTo>
                    <a:pt x="26273" y="26257"/>
                  </a:lnTo>
                  <a:lnTo>
                    <a:pt x="7048" y="54756"/>
                  </a:lnTo>
                  <a:lnTo>
                    <a:pt x="0" y="89662"/>
                  </a:lnTo>
                  <a:lnTo>
                    <a:pt x="0" y="788797"/>
                  </a:lnTo>
                  <a:lnTo>
                    <a:pt x="7048" y="823722"/>
                  </a:lnTo>
                  <a:lnTo>
                    <a:pt x="26273" y="852265"/>
                  </a:lnTo>
                  <a:lnTo>
                    <a:pt x="54788" y="871521"/>
                  </a:lnTo>
                  <a:lnTo>
                    <a:pt x="89712" y="878586"/>
                  </a:lnTo>
                  <a:lnTo>
                    <a:pt x="124631" y="871521"/>
                  </a:lnTo>
                  <a:lnTo>
                    <a:pt x="153147" y="852265"/>
                  </a:lnTo>
                  <a:lnTo>
                    <a:pt x="172374" y="823722"/>
                  </a:lnTo>
                  <a:lnTo>
                    <a:pt x="179425" y="788797"/>
                  </a:lnTo>
                  <a:lnTo>
                    <a:pt x="179425" y="89662"/>
                  </a:lnTo>
                  <a:lnTo>
                    <a:pt x="172374" y="54756"/>
                  </a:lnTo>
                  <a:lnTo>
                    <a:pt x="153147" y="26257"/>
                  </a:lnTo>
                  <a:lnTo>
                    <a:pt x="124631" y="7044"/>
                  </a:lnTo>
                  <a:lnTo>
                    <a:pt x="89712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7730" y="2762504"/>
              <a:ext cx="179705" cy="878840"/>
            </a:xfrm>
            <a:custGeom>
              <a:avLst/>
              <a:gdLst/>
              <a:ahLst/>
              <a:cxnLst/>
              <a:rect l="l" t="t" r="r" b="b"/>
              <a:pathLst>
                <a:path w="179705" h="878839">
                  <a:moveTo>
                    <a:pt x="0" y="89662"/>
                  </a:moveTo>
                  <a:lnTo>
                    <a:pt x="7048" y="54756"/>
                  </a:lnTo>
                  <a:lnTo>
                    <a:pt x="26273" y="26257"/>
                  </a:lnTo>
                  <a:lnTo>
                    <a:pt x="54788" y="7044"/>
                  </a:lnTo>
                  <a:lnTo>
                    <a:pt x="89712" y="0"/>
                  </a:lnTo>
                  <a:lnTo>
                    <a:pt x="124631" y="7044"/>
                  </a:lnTo>
                  <a:lnTo>
                    <a:pt x="153147" y="26257"/>
                  </a:lnTo>
                  <a:lnTo>
                    <a:pt x="172374" y="54756"/>
                  </a:lnTo>
                  <a:lnTo>
                    <a:pt x="179425" y="89662"/>
                  </a:lnTo>
                  <a:lnTo>
                    <a:pt x="179425" y="788797"/>
                  </a:lnTo>
                  <a:lnTo>
                    <a:pt x="172374" y="823722"/>
                  </a:lnTo>
                  <a:lnTo>
                    <a:pt x="153147" y="852265"/>
                  </a:lnTo>
                  <a:lnTo>
                    <a:pt x="124631" y="871521"/>
                  </a:lnTo>
                  <a:lnTo>
                    <a:pt x="89712" y="878586"/>
                  </a:lnTo>
                  <a:lnTo>
                    <a:pt x="54788" y="871521"/>
                  </a:lnTo>
                  <a:lnTo>
                    <a:pt x="26273" y="852265"/>
                  </a:lnTo>
                  <a:lnTo>
                    <a:pt x="7048" y="823722"/>
                  </a:lnTo>
                  <a:lnTo>
                    <a:pt x="0" y="788797"/>
                  </a:lnTo>
                  <a:lnTo>
                    <a:pt x="0" y="89662"/>
                  </a:lnTo>
                  <a:close/>
                </a:path>
              </a:pathLst>
            </a:custGeom>
            <a:ln w="7619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192885" y="3876547"/>
            <a:ext cx="187325" cy="886460"/>
            <a:chOff x="1192885" y="3876547"/>
            <a:chExt cx="187325" cy="886460"/>
          </a:xfrm>
        </p:grpSpPr>
        <p:sp>
          <p:nvSpPr>
            <p:cNvPr id="8" name="object 8"/>
            <p:cNvSpPr/>
            <p:nvPr/>
          </p:nvSpPr>
          <p:spPr>
            <a:xfrm>
              <a:off x="1196695" y="3880357"/>
              <a:ext cx="179705" cy="878840"/>
            </a:xfrm>
            <a:custGeom>
              <a:avLst/>
              <a:gdLst/>
              <a:ahLst/>
              <a:cxnLst/>
              <a:rect l="l" t="t" r="r" b="b"/>
              <a:pathLst>
                <a:path w="179705" h="878839">
                  <a:moveTo>
                    <a:pt x="89687" y="0"/>
                  </a:moveTo>
                  <a:lnTo>
                    <a:pt x="54783" y="7044"/>
                  </a:lnTo>
                  <a:lnTo>
                    <a:pt x="26274" y="26257"/>
                  </a:lnTo>
                  <a:lnTo>
                    <a:pt x="7050" y="54756"/>
                  </a:lnTo>
                  <a:lnTo>
                    <a:pt x="0" y="89662"/>
                  </a:lnTo>
                  <a:lnTo>
                    <a:pt x="0" y="788796"/>
                  </a:lnTo>
                  <a:lnTo>
                    <a:pt x="7050" y="823775"/>
                  </a:lnTo>
                  <a:lnTo>
                    <a:pt x="26274" y="852312"/>
                  </a:lnTo>
                  <a:lnTo>
                    <a:pt x="54783" y="871539"/>
                  </a:lnTo>
                  <a:lnTo>
                    <a:pt x="89687" y="878586"/>
                  </a:lnTo>
                  <a:lnTo>
                    <a:pt x="124612" y="871539"/>
                  </a:lnTo>
                  <a:lnTo>
                    <a:pt x="153155" y="852312"/>
                  </a:lnTo>
                  <a:lnTo>
                    <a:pt x="172412" y="823775"/>
                  </a:lnTo>
                  <a:lnTo>
                    <a:pt x="179476" y="788796"/>
                  </a:lnTo>
                  <a:lnTo>
                    <a:pt x="179476" y="89662"/>
                  </a:lnTo>
                  <a:lnTo>
                    <a:pt x="172412" y="54756"/>
                  </a:lnTo>
                  <a:lnTo>
                    <a:pt x="153155" y="26257"/>
                  </a:lnTo>
                  <a:lnTo>
                    <a:pt x="124612" y="7044"/>
                  </a:lnTo>
                  <a:lnTo>
                    <a:pt x="89687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96695" y="3880357"/>
              <a:ext cx="179705" cy="878840"/>
            </a:xfrm>
            <a:custGeom>
              <a:avLst/>
              <a:gdLst/>
              <a:ahLst/>
              <a:cxnLst/>
              <a:rect l="l" t="t" r="r" b="b"/>
              <a:pathLst>
                <a:path w="179705" h="878839">
                  <a:moveTo>
                    <a:pt x="0" y="89662"/>
                  </a:moveTo>
                  <a:lnTo>
                    <a:pt x="7050" y="54756"/>
                  </a:lnTo>
                  <a:lnTo>
                    <a:pt x="26274" y="26257"/>
                  </a:lnTo>
                  <a:lnTo>
                    <a:pt x="54783" y="7044"/>
                  </a:lnTo>
                  <a:lnTo>
                    <a:pt x="89687" y="0"/>
                  </a:lnTo>
                  <a:lnTo>
                    <a:pt x="124612" y="7044"/>
                  </a:lnTo>
                  <a:lnTo>
                    <a:pt x="153155" y="26257"/>
                  </a:lnTo>
                  <a:lnTo>
                    <a:pt x="172412" y="54756"/>
                  </a:lnTo>
                  <a:lnTo>
                    <a:pt x="179476" y="89662"/>
                  </a:lnTo>
                  <a:lnTo>
                    <a:pt x="179476" y="788796"/>
                  </a:lnTo>
                  <a:lnTo>
                    <a:pt x="172412" y="823775"/>
                  </a:lnTo>
                  <a:lnTo>
                    <a:pt x="153155" y="852312"/>
                  </a:lnTo>
                  <a:lnTo>
                    <a:pt x="124612" y="871539"/>
                  </a:lnTo>
                  <a:lnTo>
                    <a:pt x="89687" y="878586"/>
                  </a:lnTo>
                  <a:lnTo>
                    <a:pt x="54783" y="871539"/>
                  </a:lnTo>
                  <a:lnTo>
                    <a:pt x="26274" y="852312"/>
                  </a:lnTo>
                  <a:lnTo>
                    <a:pt x="7050" y="823775"/>
                  </a:lnTo>
                  <a:lnTo>
                    <a:pt x="0" y="788796"/>
                  </a:lnTo>
                  <a:lnTo>
                    <a:pt x="0" y="89662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551939" y="4994402"/>
            <a:ext cx="187325" cy="886460"/>
            <a:chOff x="1551939" y="4994402"/>
            <a:chExt cx="187325" cy="886460"/>
          </a:xfrm>
        </p:grpSpPr>
        <p:sp>
          <p:nvSpPr>
            <p:cNvPr id="11" name="object 11"/>
            <p:cNvSpPr/>
            <p:nvPr/>
          </p:nvSpPr>
          <p:spPr>
            <a:xfrm>
              <a:off x="1555749" y="4998212"/>
              <a:ext cx="179705" cy="878840"/>
            </a:xfrm>
            <a:custGeom>
              <a:avLst/>
              <a:gdLst/>
              <a:ahLst/>
              <a:cxnLst/>
              <a:rect l="l" t="t" r="r" b="b"/>
              <a:pathLst>
                <a:path w="179705" h="878839">
                  <a:moveTo>
                    <a:pt x="89788" y="0"/>
                  </a:moveTo>
                  <a:lnTo>
                    <a:pt x="54864" y="7064"/>
                  </a:lnTo>
                  <a:lnTo>
                    <a:pt x="26320" y="26320"/>
                  </a:lnTo>
                  <a:lnTo>
                    <a:pt x="7064" y="54863"/>
                  </a:lnTo>
                  <a:lnTo>
                    <a:pt x="0" y="89788"/>
                  </a:lnTo>
                  <a:lnTo>
                    <a:pt x="0" y="788924"/>
                  </a:lnTo>
                  <a:lnTo>
                    <a:pt x="7064" y="823829"/>
                  </a:lnTo>
                  <a:lnTo>
                    <a:pt x="26320" y="852328"/>
                  </a:lnTo>
                  <a:lnTo>
                    <a:pt x="54863" y="871541"/>
                  </a:lnTo>
                  <a:lnTo>
                    <a:pt x="89788" y="878586"/>
                  </a:lnTo>
                  <a:lnTo>
                    <a:pt x="124694" y="871541"/>
                  </a:lnTo>
                  <a:lnTo>
                    <a:pt x="153193" y="852328"/>
                  </a:lnTo>
                  <a:lnTo>
                    <a:pt x="172406" y="823829"/>
                  </a:lnTo>
                  <a:lnTo>
                    <a:pt x="179450" y="788924"/>
                  </a:lnTo>
                  <a:lnTo>
                    <a:pt x="179450" y="89788"/>
                  </a:lnTo>
                  <a:lnTo>
                    <a:pt x="172406" y="54863"/>
                  </a:lnTo>
                  <a:lnTo>
                    <a:pt x="153193" y="26320"/>
                  </a:lnTo>
                  <a:lnTo>
                    <a:pt x="124694" y="7064"/>
                  </a:lnTo>
                  <a:lnTo>
                    <a:pt x="89788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55749" y="4998212"/>
              <a:ext cx="179705" cy="878840"/>
            </a:xfrm>
            <a:custGeom>
              <a:avLst/>
              <a:gdLst/>
              <a:ahLst/>
              <a:cxnLst/>
              <a:rect l="l" t="t" r="r" b="b"/>
              <a:pathLst>
                <a:path w="179705" h="878839">
                  <a:moveTo>
                    <a:pt x="0" y="89788"/>
                  </a:moveTo>
                  <a:lnTo>
                    <a:pt x="7064" y="54863"/>
                  </a:lnTo>
                  <a:lnTo>
                    <a:pt x="26320" y="26320"/>
                  </a:lnTo>
                  <a:lnTo>
                    <a:pt x="54864" y="7064"/>
                  </a:lnTo>
                  <a:lnTo>
                    <a:pt x="89788" y="0"/>
                  </a:lnTo>
                  <a:lnTo>
                    <a:pt x="124694" y="7064"/>
                  </a:lnTo>
                  <a:lnTo>
                    <a:pt x="153193" y="26320"/>
                  </a:lnTo>
                  <a:lnTo>
                    <a:pt x="172406" y="54863"/>
                  </a:lnTo>
                  <a:lnTo>
                    <a:pt x="179450" y="89788"/>
                  </a:lnTo>
                  <a:lnTo>
                    <a:pt x="179450" y="788924"/>
                  </a:lnTo>
                  <a:lnTo>
                    <a:pt x="172406" y="823829"/>
                  </a:lnTo>
                  <a:lnTo>
                    <a:pt x="153193" y="852328"/>
                  </a:lnTo>
                  <a:lnTo>
                    <a:pt x="124694" y="871541"/>
                  </a:lnTo>
                  <a:lnTo>
                    <a:pt x="89788" y="878586"/>
                  </a:lnTo>
                  <a:lnTo>
                    <a:pt x="54863" y="871541"/>
                  </a:lnTo>
                  <a:lnTo>
                    <a:pt x="26320" y="852328"/>
                  </a:lnTo>
                  <a:lnTo>
                    <a:pt x="7064" y="823829"/>
                  </a:lnTo>
                  <a:lnTo>
                    <a:pt x="0" y="788924"/>
                  </a:lnTo>
                  <a:lnTo>
                    <a:pt x="0" y="89788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911095" y="6112255"/>
            <a:ext cx="187325" cy="886460"/>
            <a:chOff x="1911095" y="6112255"/>
            <a:chExt cx="187325" cy="886460"/>
          </a:xfrm>
        </p:grpSpPr>
        <p:sp>
          <p:nvSpPr>
            <p:cNvPr id="14" name="object 14"/>
            <p:cNvSpPr/>
            <p:nvPr/>
          </p:nvSpPr>
          <p:spPr>
            <a:xfrm>
              <a:off x="1914905" y="6116065"/>
              <a:ext cx="179705" cy="878840"/>
            </a:xfrm>
            <a:custGeom>
              <a:avLst/>
              <a:gdLst/>
              <a:ahLst/>
              <a:cxnLst/>
              <a:rect l="l" t="t" r="r" b="b"/>
              <a:pathLst>
                <a:path w="179705" h="878840">
                  <a:moveTo>
                    <a:pt x="89662" y="0"/>
                  </a:moveTo>
                  <a:lnTo>
                    <a:pt x="54756" y="7064"/>
                  </a:lnTo>
                  <a:lnTo>
                    <a:pt x="26257" y="26320"/>
                  </a:lnTo>
                  <a:lnTo>
                    <a:pt x="7044" y="54863"/>
                  </a:lnTo>
                  <a:lnTo>
                    <a:pt x="0" y="89788"/>
                  </a:lnTo>
                  <a:lnTo>
                    <a:pt x="0" y="788923"/>
                  </a:lnTo>
                  <a:lnTo>
                    <a:pt x="7044" y="823835"/>
                  </a:lnTo>
                  <a:lnTo>
                    <a:pt x="26257" y="852347"/>
                  </a:lnTo>
                  <a:lnTo>
                    <a:pt x="54756" y="871573"/>
                  </a:lnTo>
                  <a:lnTo>
                    <a:pt x="89662" y="878624"/>
                  </a:lnTo>
                  <a:lnTo>
                    <a:pt x="124586" y="871573"/>
                  </a:lnTo>
                  <a:lnTo>
                    <a:pt x="153130" y="852347"/>
                  </a:lnTo>
                  <a:lnTo>
                    <a:pt x="172386" y="823835"/>
                  </a:lnTo>
                  <a:lnTo>
                    <a:pt x="179450" y="788923"/>
                  </a:lnTo>
                  <a:lnTo>
                    <a:pt x="179450" y="89788"/>
                  </a:lnTo>
                  <a:lnTo>
                    <a:pt x="172386" y="54863"/>
                  </a:lnTo>
                  <a:lnTo>
                    <a:pt x="153130" y="26320"/>
                  </a:lnTo>
                  <a:lnTo>
                    <a:pt x="124587" y="7064"/>
                  </a:lnTo>
                  <a:lnTo>
                    <a:pt x="89662" y="0"/>
                  </a:lnTo>
                  <a:close/>
                </a:path>
              </a:pathLst>
            </a:custGeom>
            <a:solidFill>
              <a:srgbClr val="7D01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4905" y="6116065"/>
              <a:ext cx="179705" cy="878840"/>
            </a:xfrm>
            <a:custGeom>
              <a:avLst/>
              <a:gdLst/>
              <a:ahLst/>
              <a:cxnLst/>
              <a:rect l="l" t="t" r="r" b="b"/>
              <a:pathLst>
                <a:path w="179705" h="878840">
                  <a:moveTo>
                    <a:pt x="0" y="89788"/>
                  </a:moveTo>
                  <a:lnTo>
                    <a:pt x="7044" y="54863"/>
                  </a:lnTo>
                  <a:lnTo>
                    <a:pt x="26257" y="26320"/>
                  </a:lnTo>
                  <a:lnTo>
                    <a:pt x="54756" y="7064"/>
                  </a:lnTo>
                  <a:lnTo>
                    <a:pt x="89662" y="0"/>
                  </a:lnTo>
                  <a:lnTo>
                    <a:pt x="124587" y="7064"/>
                  </a:lnTo>
                  <a:lnTo>
                    <a:pt x="153130" y="26320"/>
                  </a:lnTo>
                  <a:lnTo>
                    <a:pt x="172386" y="54863"/>
                  </a:lnTo>
                  <a:lnTo>
                    <a:pt x="179450" y="89788"/>
                  </a:lnTo>
                  <a:lnTo>
                    <a:pt x="179450" y="788923"/>
                  </a:lnTo>
                  <a:lnTo>
                    <a:pt x="172386" y="823835"/>
                  </a:lnTo>
                  <a:lnTo>
                    <a:pt x="153130" y="852347"/>
                  </a:lnTo>
                  <a:lnTo>
                    <a:pt x="124587" y="871573"/>
                  </a:lnTo>
                  <a:lnTo>
                    <a:pt x="89662" y="878624"/>
                  </a:lnTo>
                  <a:lnTo>
                    <a:pt x="54756" y="871573"/>
                  </a:lnTo>
                  <a:lnTo>
                    <a:pt x="26257" y="852347"/>
                  </a:lnTo>
                  <a:lnTo>
                    <a:pt x="7044" y="823835"/>
                  </a:lnTo>
                  <a:lnTo>
                    <a:pt x="0" y="788923"/>
                  </a:lnTo>
                  <a:lnTo>
                    <a:pt x="0" y="89788"/>
                  </a:lnTo>
                  <a:close/>
                </a:path>
              </a:pathLst>
            </a:custGeom>
            <a:ln w="762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054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Conclusion</a:t>
            </a:r>
          </a:p>
          <a:p>
            <a:pPr marL="550545">
              <a:lnSpc>
                <a:spcPct val="100000"/>
              </a:lnSpc>
              <a:spcBef>
                <a:spcPts val="1770"/>
              </a:spcBef>
            </a:pPr>
            <a:r>
              <a:rPr sz="1850" spc="-20" dirty="0"/>
              <a:t>Platform-</a:t>
            </a:r>
            <a:r>
              <a:rPr sz="1850" dirty="0"/>
              <a:t>aware</a:t>
            </a:r>
            <a:r>
              <a:rPr sz="1850" spc="-20" dirty="0"/>
              <a:t> </a:t>
            </a:r>
            <a:r>
              <a:rPr sz="1850" dirty="0"/>
              <a:t>ML</a:t>
            </a:r>
            <a:r>
              <a:rPr sz="1850" spc="-45" dirty="0"/>
              <a:t> </a:t>
            </a:r>
            <a:r>
              <a:rPr sz="1850" dirty="0"/>
              <a:t>with</a:t>
            </a:r>
            <a:r>
              <a:rPr sz="1850" spc="-45" dirty="0"/>
              <a:t> </a:t>
            </a:r>
            <a:r>
              <a:rPr sz="1850" spc="-10" dirty="0"/>
              <a:t>behavioral</a:t>
            </a:r>
            <a:r>
              <a:rPr sz="1850" spc="-5" dirty="0"/>
              <a:t> </a:t>
            </a:r>
            <a:r>
              <a:rPr sz="1850" dirty="0"/>
              <a:t>+</a:t>
            </a:r>
            <a:r>
              <a:rPr sz="1850" spc="-40" dirty="0"/>
              <a:t> </a:t>
            </a:r>
            <a:r>
              <a:rPr sz="1850" spc="-10" dirty="0"/>
              <a:t>content</a:t>
            </a:r>
            <a:r>
              <a:rPr sz="1850" spc="-65" dirty="0"/>
              <a:t> </a:t>
            </a:r>
            <a:r>
              <a:rPr sz="1850" spc="-10" dirty="0"/>
              <a:t>features</a:t>
            </a:r>
            <a:r>
              <a:rPr sz="1850" spc="-45" dirty="0"/>
              <a:t> </a:t>
            </a:r>
            <a:r>
              <a:rPr sz="1850" spc="-10" dirty="0"/>
              <a:t>effective</a:t>
            </a:r>
            <a:endParaRPr sz="1850"/>
          </a:p>
          <a:p>
            <a:pPr marL="909319">
              <a:lnSpc>
                <a:spcPct val="100000"/>
              </a:lnSpc>
              <a:spcBef>
                <a:spcPts val="2170"/>
              </a:spcBef>
            </a:pPr>
            <a:r>
              <a:rPr spc="-10" dirty="0"/>
              <a:t>Future</a:t>
            </a:r>
            <a:r>
              <a:rPr spc="-114" dirty="0"/>
              <a:t> </a:t>
            </a:r>
            <a:r>
              <a:rPr spc="-10" dirty="0"/>
              <a:t>Deep</a:t>
            </a:r>
            <a:r>
              <a:rPr spc="-105" dirty="0"/>
              <a:t> </a:t>
            </a:r>
            <a:r>
              <a:rPr spc="-10" dirty="0"/>
              <a:t>Learning</a:t>
            </a:r>
          </a:p>
          <a:p>
            <a:pPr marL="909319">
              <a:lnSpc>
                <a:spcPct val="100000"/>
              </a:lnSpc>
              <a:spcBef>
                <a:spcPts val="1775"/>
              </a:spcBef>
            </a:pPr>
            <a:r>
              <a:rPr sz="1850" spc="-10" dirty="0"/>
              <a:t>Incorporate</a:t>
            </a:r>
            <a:r>
              <a:rPr sz="1850" spc="-70" dirty="0"/>
              <a:t> </a:t>
            </a:r>
            <a:r>
              <a:rPr sz="1850" dirty="0"/>
              <a:t>LSTM,</a:t>
            </a:r>
            <a:r>
              <a:rPr sz="1850" spc="-55" dirty="0"/>
              <a:t> </a:t>
            </a:r>
            <a:r>
              <a:rPr sz="1850" spc="-40" dirty="0"/>
              <a:t>BERT,</a:t>
            </a:r>
            <a:r>
              <a:rPr sz="1850" spc="-55" dirty="0"/>
              <a:t> </a:t>
            </a:r>
            <a:r>
              <a:rPr sz="1850" dirty="0"/>
              <a:t>and</a:t>
            </a:r>
            <a:r>
              <a:rPr sz="1850" spc="-50" dirty="0"/>
              <a:t> </a:t>
            </a:r>
            <a:r>
              <a:rPr sz="1850" dirty="0"/>
              <a:t>Graph</a:t>
            </a:r>
            <a:r>
              <a:rPr sz="1850" spc="-45" dirty="0"/>
              <a:t> </a:t>
            </a:r>
            <a:r>
              <a:rPr sz="1850" spc="-10" dirty="0"/>
              <a:t>Networks</a:t>
            </a:r>
            <a:endParaRPr sz="1850"/>
          </a:p>
          <a:p>
            <a:pPr marL="1268095">
              <a:lnSpc>
                <a:spcPct val="100000"/>
              </a:lnSpc>
              <a:spcBef>
                <a:spcPts val="2175"/>
              </a:spcBef>
            </a:pPr>
            <a:r>
              <a:rPr spc="-35" dirty="0"/>
              <a:t>Real-</a:t>
            </a:r>
            <a:r>
              <a:rPr spc="-20" dirty="0"/>
              <a:t>time</a:t>
            </a:r>
            <a:r>
              <a:rPr spc="-40" dirty="0"/>
              <a:t> </a:t>
            </a:r>
            <a:r>
              <a:rPr spc="-10" dirty="0"/>
              <a:t>Detection</a:t>
            </a:r>
          </a:p>
          <a:p>
            <a:pPr marL="1268095">
              <a:lnSpc>
                <a:spcPct val="100000"/>
              </a:lnSpc>
              <a:spcBef>
                <a:spcPts val="1764"/>
              </a:spcBef>
            </a:pPr>
            <a:r>
              <a:rPr sz="1850" dirty="0"/>
              <a:t>Deploy</a:t>
            </a:r>
            <a:r>
              <a:rPr sz="1850" spc="-35" dirty="0"/>
              <a:t> </a:t>
            </a:r>
            <a:r>
              <a:rPr sz="1850" dirty="0"/>
              <a:t>live</a:t>
            </a:r>
            <a:r>
              <a:rPr sz="1850" spc="-50" dirty="0"/>
              <a:t> </a:t>
            </a:r>
            <a:r>
              <a:rPr sz="1850" dirty="0"/>
              <a:t>bot</a:t>
            </a:r>
            <a:r>
              <a:rPr sz="1850" spc="-40" dirty="0"/>
              <a:t> </a:t>
            </a:r>
            <a:r>
              <a:rPr sz="1850" spc="-10" dirty="0"/>
              <a:t>detection</a:t>
            </a:r>
            <a:r>
              <a:rPr sz="1850" spc="-40" dirty="0"/>
              <a:t> </a:t>
            </a:r>
            <a:r>
              <a:rPr sz="1850" spc="-10" dirty="0"/>
              <a:t>pipelines</a:t>
            </a:r>
            <a:endParaRPr sz="1850"/>
          </a:p>
          <a:p>
            <a:pPr marL="1627505">
              <a:lnSpc>
                <a:spcPct val="100000"/>
              </a:lnSpc>
              <a:spcBef>
                <a:spcPts val="2175"/>
              </a:spcBef>
            </a:pPr>
            <a:r>
              <a:rPr spc="-10" dirty="0"/>
              <a:t>Explainability</a:t>
            </a:r>
          </a:p>
          <a:p>
            <a:pPr marL="1627505">
              <a:lnSpc>
                <a:spcPct val="100000"/>
              </a:lnSpc>
              <a:spcBef>
                <a:spcPts val="1770"/>
              </a:spcBef>
            </a:pPr>
            <a:r>
              <a:rPr sz="1850" spc="-10" dirty="0"/>
              <a:t>Integrate</a:t>
            </a:r>
            <a:r>
              <a:rPr sz="1850" spc="-75" dirty="0"/>
              <a:t> </a:t>
            </a:r>
            <a:r>
              <a:rPr sz="1850" dirty="0"/>
              <a:t>Explainable</a:t>
            </a:r>
            <a:r>
              <a:rPr sz="1850" spc="-10" dirty="0"/>
              <a:t> </a:t>
            </a:r>
            <a:r>
              <a:rPr sz="1850" dirty="0"/>
              <a:t>AI</a:t>
            </a:r>
            <a:r>
              <a:rPr sz="1850" spc="-70" dirty="0"/>
              <a:t> </a:t>
            </a:r>
            <a:r>
              <a:rPr sz="1850" dirty="0"/>
              <a:t>for</a:t>
            </a:r>
            <a:r>
              <a:rPr sz="1850" spc="-55" dirty="0"/>
              <a:t> </a:t>
            </a:r>
            <a:r>
              <a:rPr sz="1850" dirty="0"/>
              <a:t>model</a:t>
            </a:r>
            <a:r>
              <a:rPr sz="1850" spc="-55" dirty="0"/>
              <a:t> </a:t>
            </a:r>
            <a:r>
              <a:rPr sz="1850" spc="-10" dirty="0"/>
              <a:t>transparency</a:t>
            </a:r>
            <a:endParaRPr sz="1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628</Words>
  <Application>Microsoft Office PowerPoint</Application>
  <PresentationFormat>Custom</PresentationFormat>
  <Paragraphs>154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Calibri</vt:lpstr>
      <vt:lpstr>Calibri Light</vt:lpstr>
      <vt:lpstr>Office Theme</vt:lpstr>
      <vt:lpstr>Detecting Bot-Controlled Accounts on Social Media</vt:lpstr>
      <vt:lpstr>PowerPoint Presentation</vt:lpstr>
      <vt:lpstr>Problem Statement &amp; Objectives</vt:lpstr>
      <vt:lpstr>Significance of the Project</vt:lpstr>
      <vt:lpstr>PowerPoint Presentation</vt:lpstr>
      <vt:lpstr>Data Preprocessing</vt:lpstr>
      <vt:lpstr>PowerPoint Presentation</vt:lpstr>
      <vt:lpstr>TF-IDF: Text Feature Extraction</vt:lpstr>
      <vt:lpstr>Random Forest Classifier</vt:lpstr>
      <vt:lpstr>PowerPoint Presentation</vt:lpstr>
      <vt:lpstr>Training and Evaluation</vt:lpstr>
      <vt:lpstr>Instagram Detection Results</vt:lpstr>
      <vt:lpstr>Twitter Detection Results</vt:lpstr>
      <vt:lpstr>Comparison &amp; Analysis</vt:lpstr>
      <vt:lpstr>Conclusions and 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AYUSH GUPTA</cp:lastModifiedBy>
  <cp:revision>2</cp:revision>
  <dcterms:created xsi:type="dcterms:W3CDTF">2025-05-01T19:45:36Z</dcterms:created>
  <dcterms:modified xsi:type="dcterms:W3CDTF">2025-05-01T19:49:27Z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2025-05-02T00:00:00Z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2025-05-01T00:00:00Z</vt:filetime>
  </property>
  <property fmtid="{D5CDD505-2E9C-101B-9397-08002B2CF9AE}" pid="5" name="Producer">
    <vt:lpwstr>Microsoft® PowerPoint® 2019</vt:lpwstr>
  </property>
</Properties>
</file>